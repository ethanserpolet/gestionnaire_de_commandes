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AC504-89A5-4BD5-BC77-6B46745759F9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AC440-DDA8-407E-8B22-2D39CC22B96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6080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Objet de la présentation : remplacer le formulaire Excel de demande d’achat par une application en ligne, déjà développée et testée, accessible avec le compte Microsoft du lycée. Durée : 10 à 15 minutes, puis questions. À la fin, quelques décisions sont attendues du conseil.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AC440-DDA8-407E-8B22-2D39CC22B96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058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Rappeler le circuit actuel : fichier Excel, impression ou e-mail, signatures à obtenir physiquement, puis transmission à la comptabilité. Personne ne sait où en est une demande, les relances sont fréquentes et l’archivage est difficile. Ces difficultés sont connues de tous ; l’objectif n’est pas de changer le fond (mêmes informations, mêmes validateurs) mais la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AC440-DDA8-407E-8B22-2D39CC22B96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9232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L’application reprend exactement le contenu de l’ancien formulaire : articles, fournisseurs, destinations, motifs, quantités, prix. Aucune formation lourde n’est nécessaire : on se connecte avec son compte Microsoft habituel, comme pour la messagerie. L’outil fonctionne sur ordinateur, tablette et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AC440-DDA8-407E-8B22-2D39CC22B96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2358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Le circuit reprend l’organisation actuelle. Étape 1 : un responsable du service du demandeur (s’il y en a plusieurs, le demandeur choisit lequel). Étape 2 : la comptabilité et le chef d’établissement, obligatoires tous les deux. Ensuite la commande est répartie par fournisseur : par exemple Amazon peut être confié à une personne précise, le reste à la comptabilité. Cas particuliers gérés : un responsable qui commande pour son propre service passe directement à l’étape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AC440-DDA8-407E-8B22-2D39CC22B96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2206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Les rôles sont attribués par le service informatique. Chaque nouvel arrivant devient automatiquement demandeur. Les validations de la comptabilité et du chef d’établissement sont ouvertes à tout titulaire du rôle. Les élèves, qui ont aussi un compte Microsoft, sont refusés automatiquement grâce à leur groupe (GP_eleves).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AC440-DDA8-407E-8B22-2D39CC22B96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2452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Montrer l’écran d’une demande en brouillon : les articles sont regroupés par fournisseur, avec leurs pièces jointes et le total. Point fort à souligner : la capture d’écran collée directement, très pratique pour les achats en ligne. Tant que la demande n’est pas envoyée, elle reste modifiable ; une fois envoyée, elle est figée, ce qui garantit que les validateurs approuvent exactement ce qui est demandé.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AC440-DDA8-407E-8B22-2D39CC22B96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1439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Vue d’un validateur, ici le chef d’établissement : la frise montre que le responsable de service et la comptabilité ont déjà validé. Il suffit de cliquer sur « Valider la commande ». Pour un refus, un motif est obligatoire et il est transmis au demandeur. Quand l’un des deux validateurs de l’étape 2 a signé, l’autre reçoit un rappel.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AC440-DDA8-407E-8B22-2D39CC22B96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8088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Les e-mails partent automatiquement, au nom de la personne qui vient d’agir, ce qui permet de lui répondre directement. Le PDF de chaque commande sert d’archive officielle : il reprend la présentation du formulaire actuel, avec en plus les signatures datées de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AC440-DDA8-407E-8B22-2D39CC22B96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6554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C’est le principal bénéfice pour la direction : aucune commande ne peut être passée sans les deux validations, et tout est tracé. La comptabilité ou le chef d’établissement peuvent commander eux-mêmes : ils signent dans leur rôle, mais l’autre signature reste obligatoire. Les listes permettent de suivre les engagements par service ou par lieu.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AC440-DDA8-407E-8B22-2D39CC22B966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417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Aucune donnée n’est confiée à un service grand public : tout est hébergé avec le site du lycée. Les élèves ont un compte Microsoft mais sont automatiquement refusés. Les droits sont attribués par rôle, et chaque action est enregistrée.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AC440-DDA8-407E-8B22-2D39CC22B966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064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Résumer les bénéfices par public. Pour les demandeurs : simplicité et visibilité. Pour les validateurs : rapidité, tout est au même endroit. Pour la direction : contrôle et traçabilité. Un guide illustré de 19 pages est prêt pour tout le personnel.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AC440-DDA8-407E-8B22-2D39CC22B966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1299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Le déploiement est progressif pour limiter les risques : une phase pilote avec un ou deux services permet de recueillir les remarques avant la généralisation. Pendant le pilote, l’ancien formulaire reste possible pour les autres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AC440-DDA8-407E-8B22-2D39CC22B966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7205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Ce sont les quatre points sur lesquels une décision du conseil permet de lancer la mise en service. Les réglages eux-mêmes (rôles, services, fournisseurs) sont ensuite faits par le service informatique en quelques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AC440-DDA8-407E-8B22-2D39CC22B966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55523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Proposer une démonstration en direct si le temps le permet : créer une demande, la valider, montrer le PDF. Rappeler que le guide PDF sera distribué à tout le personnel.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AC440-DDA8-407E-8B22-2D39CC22B966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5430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3D0F7-2499-9C5B-63AB-3678C1CBC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C6882-EF37-8C64-04C6-C972068B5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870A4-94DB-4D93-F9A2-E5A404D7C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532-E505-492E-B91E-6F25E368CDE3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99D92-3913-E179-F109-2A54B27F2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536CB-97AF-C357-6CF6-7DA2702F4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4F0B-827B-4D74-AD1F-EFBA5C95B08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9480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27128-BB85-71DE-A5AD-7C99223A4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C0E71-FC2A-E6AE-6FDA-A5F488992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010B3-D247-7221-B047-41E6ADD8E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532-E505-492E-B91E-6F25E368CDE3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ED92A-EAF3-267D-8336-92C54A61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D72D2-ED39-DE91-71D7-B41D2C08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4F0B-827B-4D74-AD1F-EFBA5C95B08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5863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E8815-E105-569A-A206-E49F355C3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8915C-C48D-5212-9BC5-1D62EDA52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A5B80-BC34-0786-FA8C-20A26711A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532-E505-492E-B91E-6F25E368CDE3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388E8-AAAB-2E6D-D5A0-8C2332E20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72719-AA38-A914-386C-386F488AA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4F0B-827B-4D74-AD1F-EFBA5C95B08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2559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4DA-A59F-3C9D-F635-764D71551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B0E20-C4B0-8E35-6656-DF312CBAF8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CAE6F-C624-A2DB-5A81-29B0825ED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B6B11-CE72-EA39-B300-2C70D5D11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532-E505-492E-B91E-6F25E368CDE3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3633E-59C8-A275-9BA3-EE5C5D43E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EED3F-8B15-4D1C-E3D8-84CEA1414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4F0B-827B-4D74-AD1F-EFBA5C95B08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0886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A0836-BAC2-3508-5BBC-C0FB7503D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F2C6F-5689-6CB0-7602-2EE935ED3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93081-0850-60FD-D662-C36EC66C9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00BE0-386D-5868-57BE-46AA9C9052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81D78-2C69-5023-568C-897C10859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A697A1-519E-A032-F81C-6F6315D50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532-E505-492E-B91E-6F25E368CDE3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3156C5-8810-7F69-A6C7-6E66BA2A8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8B11F-8F46-EC2C-7BB9-900FB5B9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4F0B-827B-4D74-AD1F-EFBA5C95B08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2053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04049-D363-C6E2-6E56-17EF110F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BE50CD-D2F7-1B3D-9568-D0B62B03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532-E505-492E-B91E-6F25E368CDE3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B1F074-DC06-1A7F-68BD-DD417F57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B3925-24B1-3083-5CC9-84C2F5248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4F0B-827B-4D74-AD1F-EFBA5C95B08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838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6242FE-E485-D645-7010-645E8A631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532-E505-492E-B91E-6F25E368CDE3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1060C-FB26-BBAE-1610-DB72541A0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ABE83-C6DE-4A33-EC14-C33D2EA0A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4F0B-827B-4D74-AD1F-EFBA5C95B08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5999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D9240-9550-C6BF-FC2D-9F21C5392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DD638-FF5A-5BE9-9A8C-006D3C1B7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D5F6F-C756-31BD-F45C-C6FD0022F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B954B-7ECA-446E-87BC-1AB3D2305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532-E505-492E-B91E-6F25E368CDE3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631678-7D90-8483-CF3E-2EE0AE74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EED9C-C89A-CDB5-DD1E-97FE08C9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4F0B-827B-4D74-AD1F-EFBA5C95B08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541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43BF3-481F-E853-E96C-F284AA883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84A0D-D7E0-53E3-4226-EB695EF92D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61BC0-EF5E-EBE8-2A70-E653A4820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40DB3-0F75-3EAE-5A7B-EAF4D787B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532-E505-492E-B91E-6F25E368CDE3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8F0A4-F112-9DE9-BFF2-D401BFB9F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F8910-3E40-8705-2219-E38A25538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4F0B-827B-4D74-AD1F-EFBA5C95B08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257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DD9A7-AB69-052C-E82E-9A52FE528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F9A9E-91E1-6D93-27BA-4ECDDDABB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5ACF5-60DB-C2C8-4D59-B3AE892B1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532-E505-492E-B91E-6F25E368CDE3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DAACF-1410-9412-8F97-ECD2255DF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C7856-659E-A024-9EBD-155813EE7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4F0B-827B-4D74-AD1F-EFBA5C95B08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418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2637B9-B121-D2CF-B155-3CC692D352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E0367A-0471-64BC-CC33-BF4F93E28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45C12-A614-BBD9-5173-E2342E61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1532-E505-492E-B91E-6F25E368CDE3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064E2-DEFD-DA71-26AD-F7816AE89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661ED-30AD-4F71-C994-6CB681F8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64F0B-827B-4D74-AD1F-EFBA5C95B08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818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A88E7E-D0C6-E95C-5628-B20AC66B6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63ED5-C356-16AA-71D5-C22C422AE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90AE-DD9B-FE7F-DB4B-2894E1CBB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11532-E505-492E-B91E-6F25E368CDE3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C3E1E-0212-79AB-E89A-87C673A4C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567B-35FF-4DCA-3E3F-F1759022F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564F0B-827B-4D74-AD1F-EFBA5C95B08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6567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27F3856-11F1-CA70-22BD-E2E4A15490D8}"/>
              </a:ext>
            </a:extLst>
          </p:cNvPr>
          <p:cNvSpPr/>
          <p:nvPr/>
        </p:nvSpPr>
        <p:spPr>
          <a:xfrm>
            <a:off x="7620000" y="-2540000"/>
            <a:ext cx="7112000" cy="7112000"/>
          </a:xfrm>
          <a:prstGeom prst="ellipse">
            <a:avLst/>
          </a:prstGeom>
          <a:solidFill>
            <a:srgbClr val="8B5CF6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>
            <a:softEdge rad="1143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F9101C4-BEF1-C53C-A585-38C37B593DCA}"/>
              </a:ext>
            </a:extLst>
          </p:cNvPr>
          <p:cNvSpPr/>
          <p:nvPr/>
        </p:nvSpPr>
        <p:spPr>
          <a:xfrm>
            <a:off x="-2286000" y="3810000"/>
            <a:ext cx="5842000" cy="5842000"/>
          </a:xfrm>
          <a:prstGeom prst="ellipse">
            <a:avLst/>
          </a:prstGeom>
          <a:solidFill>
            <a:srgbClr val="0EA5E9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>
            <a:softEdge rad="1143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14EF4C-F86F-5962-D61C-D2262738378F}"/>
              </a:ext>
            </a:extLst>
          </p:cNvPr>
          <p:cNvSpPr txBox="1"/>
          <p:nvPr/>
        </p:nvSpPr>
        <p:spPr>
          <a:xfrm>
            <a:off x="609600" y="15240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100" spc="150">
                <a:solidFill>
                  <a:srgbClr val="C7D2FE"/>
                </a:solidFill>
                <a:latin typeface="Segoe UI Semibold" panose="020B0702040204020203" pitchFamily="34" charset="0"/>
              </a:rPr>
              <a:t>PRÉSENTATION AU CONSEIL DE DIRECTION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783EF1-E72D-75EF-898C-1BA47C8E6FB6}"/>
              </a:ext>
            </a:extLst>
          </p:cNvPr>
          <p:cNvSpPr txBox="1"/>
          <p:nvPr/>
        </p:nvSpPr>
        <p:spPr>
          <a:xfrm>
            <a:off x="609600" y="18542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4400">
                <a:solidFill>
                  <a:srgbClr val="FFFFFF"/>
                </a:solidFill>
                <a:latin typeface="Segoe UI Semibold" panose="020B0702040204020203" pitchFamily="34" charset="0"/>
              </a:rPr>
              <a:t>Commandes St Marc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BF668D-7B4B-3E6D-0E2E-2840AA3F7F8F}"/>
              </a:ext>
            </a:extLst>
          </p:cNvPr>
          <p:cNvSpPr txBox="1"/>
          <p:nvPr/>
        </p:nvSpPr>
        <p:spPr>
          <a:xfrm>
            <a:off x="609600" y="26924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900">
                <a:solidFill>
                  <a:srgbClr val="C7D2FE"/>
                </a:solidFill>
                <a:latin typeface="Segoe UI" panose="020B0502040204020203" pitchFamily="34" charset="0"/>
              </a:rPr>
              <a:t>Les demandes d’achat du lycée passent en ligne : plus simples, plus rapides et entièrement traçables.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575C68-8491-AE71-B1EE-F0CA470E3920}"/>
              </a:ext>
            </a:extLst>
          </p:cNvPr>
          <p:cNvSpPr/>
          <p:nvPr/>
        </p:nvSpPr>
        <p:spPr>
          <a:xfrm>
            <a:off x="609600" y="4038600"/>
            <a:ext cx="3175000" cy="431800"/>
          </a:xfrm>
          <a:prstGeom prst="roundRect">
            <a:avLst>
              <a:gd name="adj" fmla="val 41176"/>
            </a:avLst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9C6ED7-B5DA-76F3-253D-B69E73855AA0}"/>
              </a:ext>
            </a:extLst>
          </p:cNvPr>
          <p:cNvSpPr txBox="1"/>
          <p:nvPr/>
        </p:nvSpPr>
        <p:spPr>
          <a:xfrm>
            <a:off x="609600" y="41402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400">
                <a:solidFill>
                  <a:srgbClr val="FFFFFF"/>
                </a:solidFill>
                <a:latin typeface="Segoe UI Semibold" panose="020B0702040204020203" pitchFamily="34" charset="0"/>
              </a:rPr>
              <a:t>commandes.st-marc.eu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7B36A8-E6E9-C42F-9AAF-0F5D953F9B4A}"/>
              </a:ext>
            </a:extLst>
          </p:cNvPr>
          <p:cNvSpPr txBox="1"/>
          <p:nvPr/>
        </p:nvSpPr>
        <p:spPr>
          <a:xfrm>
            <a:off x="609600" y="6045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200">
                <a:solidFill>
                  <a:srgbClr val="C7D2FE"/>
                </a:solidFill>
                <a:latin typeface="Segoe UI" panose="020B0502040204020203" pitchFamily="34" charset="0"/>
              </a:rPr>
              <a:t>Septembre 2026 · Service informatique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E76B9A-7E2A-5853-6B22-A811AFED37B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120000">
            <a:off x="6451600" y="1498600"/>
            <a:ext cx="5334000" cy="3259667"/>
          </a:xfrm>
          <a:prstGeom prst="roundRect">
            <a:avLst>
              <a:gd name="adj" fmla="val 3500"/>
            </a:avLst>
          </a:prstGeom>
          <a:ln w="9525">
            <a:solidFill>
              <a:srgbClr val="E2E6F0"/>
            </a:solidFill>
          </a:ln>
          <a:effectLst>
            <a:outerShdw blurRad="381000" dist="127000" dir="5400000" rotWithShape="0">
              <a:srgbClr val="1E1B4B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106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ADB2E8-E204-E55E-60E5-988CF043117E}"/>
              </a:ext>
            </a:extLst>
          </p:cNvPr>
          <p:cNvSpPr txBox="1"/>
          <p:nvPr/>
        </p:nvSpPr>
        <p:spPr>
          <a:xfrm>
            <a:off x="6096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100" spc="150">
                <a:solidFill>
                  <a:srgbClr val="4F46E5"/>
                </a:solidFill>
                <a:latin typeface="Segoe UI Semibold" panose="020B0702040204020203" pitchFamily="34" charset="0"/>
              </a:rPr>
              <a:t>LE CONSTAT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6B9D82-42B1-61E3-A86B-EF44AA69021C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3000">
                <a:solidFill>
                  <a:srgbClr val="0F172A"/>
                </a:solidFill>
                <a:latin typeface="Segoe UI Semibold" panose="020B0702040204020203" pitchFamily="34" charset="0"/>
              </a:rPr>
              <a:t>Aujourd’hui : un formulaire Excel qui circule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F50B79-2A97-082D-68E6-5C65265004D8}"/>
              </a:ext>
            </a:extLst>
          </p:cNvPr>
          <p:cNvSpPr txBox="1"/>
          <p:nvPr/>
        </p:nvSpPr>
        <p:spPr>
          <a:xfrm>
            <a:off x="609600" y="13716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500">
                <a:solidFill>
                  <a:srgbClr val="475569"/>
                </a:solidFill>
                <a:latin typeface="Segoe UI" panose="020B0502040204020203" pitchFamily="34" charset="0"/>
              </a:rPr>
              <a:t>Chaque demande d’achat passe de main en main, sur papier ou par e-mail, sans visibilité sur son avancement.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1C46008-08A8-52D6-9221-253366367AF1}"/>
              </a:ext>
            </a:extLst>
          </p:cNvPr>
          <p:cNvSpPr/>
          <p:nvPr/>
        </p:nvSpPr>
        <p:spPr>
          <a:xfrm>
            <a:off x="609600" y="2032000"/>
            <a:ext cx="2032000" cy="2667000"/>
          </a:xfrm>
          <a:prstGeom prst="roundRect">
            <a:avLst>
              <a:gd name="adj" fmla="val 8750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ACD1DF-59F3-DC5B-915B-8A387095BDC1}"/>
              </a:ext>
            </a:extLst>
          </p:cNvPr>
          <p:cNvSpPr/>
          <p:nvPr/>
        </p:nvSpPr>
        <p:spPr>
          <a:xfrm>
            <a:off x="838200" y="2286000"/>
            <a:ext cx="660400" cy="660400"/>
          </a:xfrm>
          <a:prstGeom prst="ellipse">
            <a:avLst/>
          </a:prstGeom>
          <a:solidFill>
            <a:srgbClr val="FDECE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300">
                <a:latin typeface="📄"/>
              </a:rPr>
              <a:t>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F980D-BB7B-BC26-F259-5D44AB585FC1}"/>
              </a:ext>
            </a:extLst>
          </p:cNvPr>
          <p:cNvSpPr txBox="1"/>
          <p:nvPr/>
        </p:nvSpPr>
        <p:spPr>
          <a:xfrm>
            <a:off x="838200" y="31496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500">
                <a:solidFill>
                  <a:srgbClr val="0F172A"/>
                </a:solidFill>
                <a:latin typeface="Segoe UI Semibold" panose="020B0702040204020203" pitchFamily="34" charset="0"/>
              </a:rPr>
              <a:t>Papier et fichiers</a:t>
            </a:r>
          </a:p>
          <a:p>
            <a:pPr>
              <a:lnSpc>
                <a:spcPct val="105000"/>
              </a:lnSpc>
            </a:pPr>
            <a:r>
              <a:rPr lang="fr-FR" sz="1200">
                <a:solidFill>
                  <a:srgbClr val="475569"/>
                </a:solidFill>
                <a:latin typeface="Segoe UI" panose="020B0502040204020203" pitchFamily="34" charset="0"/>
              </a:rPr>
              <a:t>Formulaire à remplir, imprimer ou envoyer par e-mail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DA0E7F-DF28-4B61-F50C-43F49B7EBB99}"/>
              </a:ext>
            </a:extLst>
          </p:cNvPr>
          <p:cNvSpPr/>
          <p:nvPr/>
        </p:nvSpPr>
        <p:spPr>
          <a:xfrm>
            <a:off x="2844800" y="2032000"/>
            <a:ext cx="2032000" cy="2667000"/>
          </a:xfrm>
          <a:prstGeom prst="roundRect">
            <a:avLst>
              <a:gd name="adj" fmla="val 8750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7E9B0E-DA36-651E-1D9E-0C91603C39E9}"/>
              </a:ext>
            </a:extLst>
          </p:cNvPr>
          <p:cNvSpPr/>
          <p:nvPr/>
        </p:nvSpPr>
        <p:spPr>
          <a:xfrm>
            <a:off x="3073400" y="2286000"/>
            <a:ext cx="660400" cy="660400"/>
          </a:xfrm>
          <a:prstGeom prst="ellipse">
            <a:avLst/>
          </a:prstGeom>
          <a:solidFill>
            <a:srgbClr val="FDECE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300">
                <a:latin typeface="✍️"/>
              </a:rPr>
              <a:t>✍️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70920C-2F3F-782B-998B-2AF8FB1E66C6}"/>
              </a:ext>
            </a:extLst>
          </p:cNvPr>
          <p:cNvSpPr txBox="1"/>
          <p:nvPr/>
        </p:nvSpPr>
        <p:spPr>
          <a:xfrm>
            <a:off x="3073400" y="31496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500">
                <a:solidFill>
                  <a:srgbClr val="0F172A"/>
                </a:solidFill>
                <a:latin typeface="Segoe UI Semibold" panose="020B0702040204020203" pitchFamily="34" charset="0"/>
              </a:rPr>
              <a:t>Signatures</a:t>
            </a:r>
          </a:p>
          <a:p>
            <a:pPr>
              <a:lnSpc>
                <a:spcPct val="105000"/>
              </a:lnSpc>
            </a:pPr>
            <a:r>
              <a:rPr lang="fr-FR" sz="1200">
                <a:solidFill>
                  <a:srgbClr val="475569"/>
                </a:solidFill>
                <a:latin typeface="Segoe UI" panose="020B0502040204020203" pitchFamily="34" charset="0"/>
              </a:rPr>
              <a:t>À récupérer une par une, en main propre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29B837-32DE-583D-CB32-BC91D7CD4CCB}"/>
              </a:ext>
            </a:extLst>
          </p:cNvPr>
          <p:cNvSpPr/>
          <p:nvPr/>
        </p:nvSpPr>
        <p:spPr>
          <a:xfrm>
            <a:off x="5080000" y="2032000"/>
            <a:ext cx="2032000" cy="2667000"/>
          </a:xfrm>
          <a:prstGeom prst="roundRect">
            <a:avLst>
              <a:gd name="adj" fmla="val 8750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02EAD76-9AA0-A90D-5E9A-E888843661F8}"/>
              </a:ext>
            </a:extLst>
          </p:cNvPr>
          <p:cNvSpPr/>
          <p:nvPr/>
        </p:nvSpPr>
        <p:spPr>
          <a:xfrm>
            <a:off x="5308600" y="2286000"/>
            <a:ext cx="660400" cy="660400"/>
          </a:xfrm>
          <a:prstGeom prst="ellipse">
            <a:avLst/>
          </a:prstGeom>
          <a:solidFill>
            <a:srgbClr val="FDECE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300">
                <a:latin typeface="❓"/>
              </a:rPr>
              <a:t>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76D3A3-F351-3D74-D46C-F8D2156AE2D2}"/>
              </a:ext>
            </a:extLst>
          </p:cNvPr>
          <p:cNvSpPr txBox="1"/>
          <p:nvPr/>
        </p:nvSpPr>
        <p:spPr>
          <a:xfrm>
            <a:off x="5308600" y="31496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500">
                <a:solidFill>
                  <a:srgbClr val="0F172A"/>
                </a:solidFill>
                <a:latin typeface="Segoe UI Semibold" panose="020B0702040204020203" pitchFamily="34" charset="0"/>
              </a:rPr>
              <a:t>Aucun suivi</a:t>
            </a:r>
          </a:p>
          <a:p>
            <a:pPr>
              <a:lnSpc>
                <a:spcPct val="105000"/>
              </a:lnSpc>
            </a:pPr>
            <a:r>
              <a:rPr lang="fr-FR" sz="1200">
                <a:solidFill>
                  <a:srgbClr val="475569"/>
                </a:solidFill>
                <a:latin typeface="Segoe UI" panose="020B0502040204020203" pitchFamily="34" charset="0"/>
              </a:rPr>
              <a:t>« Où en est ma demande ? » reste sans réponse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5C3982F-0F1E-ED81-CF68-47D0079ACCA1}"/>
              </a:ext>
            </a:extLst>
          </p:cNvPr>
          <p:cNvSpPr/>
          <p:nvPr/>
        </p:nvSpPr>
        <p:spPr>
          <a:xfrm>
            <a:off x="7315200" y="2032000"/>
            <a:ext cx="2032000" cy="2667000"/>
          </a:xfrm>
          <a:prstGeom prst="roundRect">
            <a:avLst>
              <a:gd name="adj" fmla="val 8750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9D9D08F-72E4-EE59-DBBC-4202EB7374CB}"/>
              </a:ext>
            </a:extLst>
          </p:cNvPr>
          <p:cNvSpPr/>
          <p:nvPr/>
        </p:nvSpPr>
        <p:spPr>
          <a:xfrm>
            <a:off x="7543800" y="2286000"/>
            <a:ext cx="660400" cy="660400"/>
          </a:xfrm>
          <a:prstGeom prst="ellipse">
            <a:avLst/>
          </a:prstGeom>
          <a:solidFill>
            <a:srgbClr val="FDECE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300">
                <a:latin typeface="🔁"/>
              </a:rPr>
              <a:t>🔁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CBA056-8450-6C25-15A4-3C064D8C008A}"/>
              </a:ext>
            </a:extLst>
          </p:cNvPr>
          <p:cNvSpPr txBox="1"/>
          <p:nvPr/>
        </p:nvSpPr>
        <p:spPr>
          <a:xfrm>
            <a:off x="7543800" y="31496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500">
                <a:solidFill>
                  <a:srgbClr val="0F172A"/>
                </a:solidFill>
                <a:latin typeface="Segoe UI Semibold" panose="020B0702040204020203" pitchFamily="34" charset="0"/>
              </a:rPr>
              <a:t>Relances</a:t>
            </a:r>
          </a:p>
          <a:p>
            <a:pPr>
              <a:lnSpc>
                <a:spcPct val="105000"/>
              </a:lnSpc>
            </a:pPr>
            <a:r>
              <a:rPr lang="fr-FR" sz="1200">
                <a:solidFill>
                  <a:srgbClr val="475569"/>
                </a:solidFill>
                <a:latin typeface="Segoe UI" panose="020B0502040204020203" pitchFamily="34" charset="0"/>
              </a:rPr>
              <a:t>À l’oral, par e-mail, de bureau en bureau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EA688BC-0145-0BD9-75E6-567124CE50E9}"/>
              </a:ext>
            </a:extLst>
          </p:cNvPr>
          <p:cNvSpPr/>
          <p:nvPr/>
        </p:nvSpPr>
        <p:spPr>
          <a:xfrm>
            <a:off x="9550400" y="2032000"/>
            <a:ext cx="2032000" cy="2667000"/>
          </a:xfrm>
          <a:prstGeom prst="roundRect">
            <a:avLst>
              <a:gd name="adj" fmla="val 8750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13331BD-49A3-523F-B826-8DFB08B92F54}"/>
              </a:ext>
            </a:extLst>
          </p:cNvPr>
          <p:cNvSpPr/>
          <p:nvPr/>
        </p:nvSpPr>
        <p:spPr>
          <a:xfrm>
            <a:off x="9779000" y="2286000"/>
            <a:ext cx="660400" cy="660400"/>
          </a:xfrm>
          <a:prstGeom prst="ellipse">
            <a:avLst/>
          </a:prstGeom>
          <a:solidFill>
            <a:srgbClr val="FDECE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300">
                <a:latin typeface="🗂️"/>
              </a:rPr>
              <a:t>🗂️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85F86E-D100-8475-EF10-884595511AD0}"/>
              </a:ext>
            </a:extLst>
          </p:cNvPr>
          <p:cNvSpPr txBox="1"/>
          <p:nvPr/>
        </p:nvSpPr>
        <p:spPr>
          <a:xfrm>
            <a:off x="9779000" y="31496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500">
                <a:solidFill>
                  <a:srgbClr val="0F172A"/>
                </a:solidFill>
                <a:latin typeface="Segoe UI Semibold" panose="020B0702040204020203" pitchFamily="34" charset="0"/>
              </a:rPr>
              <a:t>Archivage</a:t>
            </a:r>
          </a:p>
          <a:p>
            <a:pPr>
              <a:lnSpc>
                <a:spcPct val="105000"/>
              </a:lnSpc>
            </a:pPr>
            <a:r>
              <a:rPr lang="fr-FR" sz="1200">
                <a:solidFill>
                  <a:srgbClr val="475569"/>
                </a:solidFill>
                <a:latin typeface="Segoe UI" panose="020B0502040204020203" pitchFamily="34" charset="0"/>
              </a:rPr>
              <a:t>Devis éparpillés, recherche difficile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1F583D-80E0-45F9-936C-29DE2B2C12BD}"/>
              </a:ext>
            </a:extLst>
          </p:cNvPr>
          <p:cNvSpPr/>
          <p:nvPr/>
        </p:nvSpPr>
        <p:spPr>
          <a:xfrm>
            <a:off x="609600" y="5029200"/>
            <a:ext cx="10972800" cy="914400"/>
          </a:xfrm>
          <a:prstGeom prst="roundRect">
            <a:avLst>
              <a:gd name="adj" fmla="val 19444"/>
            </a:avLst>
          </a:prstGeom>
          <a:solidFill>
            <a:srgbClr val="EEF0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5C69FDD-C821-129E-3671-2E59A3C5800C}"/>
              </a:ext>
            </a:extLst>
          </p:cNvPr>
          <p:cNvSpPr/>
          <p:nvPr/>
        </p:nvSpPr>
        <p:spPr>
          <a:xfrm>
            <a:off x="863600" y="5207000"/>
            <a:ext cx="558800" cy="558800"/>
          </a:xfrm>
          <a:prstGeom prst="ellipse">
            <a:avLst/>
          </a:prstGeom>
          <a:solidFill>
            <a:srgbClr val="EEF0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>
                <a:latin typeface="⏳"/>
              </a:rPr>
              <a:t>⏳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0AF769-1EC6-A3B6-E680-6BF9DC284C64}"/>
              </a:ext>
            </a:extLst>
          </p:cNvPr>
          <p:cNvSpPr txBox="1"/>
          <p:nvPr/>
        </p:nvSpPr>
        <p:spPr>
          <a:xfrm>
            <a:off x="1625600" y="51816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500">
                <a:solidFill>
                  <a:srgbClr val="4F46E5"/>
                </a:solidFill>
                <a:latin typeface="Segoe UI Semibold" panose="020B0702040204020203" pitchFamily="34" charset="0"/>
              </a:rPr>
              <a:t>Conséquence</a:t>
            </a:r>
          </a:p>
          <a:p>
            <a:pPr>
              <a:lnSpc>
                <a:spcPct val="105000"/>
              </a:lnSpc>
            </a:pPr>
            <a:r>
              <a:rPr lang="fr-FR" sz="1300">
                <a:solidFill>
                  <a:srgbClr val="0F172A"/>
                </a:solidFill>
                <a:latin typeface="Segoe UI" panose="020B0502040204020203" pitchFamily="34" charset="0"/>
              </a:rPr>
              <a:t>Des délais longs, des relances permanentes et peu de visibilité sur les dépenses engagées.</a:t>
            </a:r>
          </a:p>
        </p:txBody>
      </p:sp>
    </p:spTree>
    <p:extLst>
      <p:ext uri="{BB962C8B-B14F-4D97-AF65-F5344CB8AC3E}">
        <p14:creationId xmlns:p14="http://schemas.microsoft.com/office/powerpoint/2010/main" val="2815226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758463-FE0A-9773-89AC-BDA59120A34C}"/>
              </a:ext>
            </a:extLst>
          </p:cNvPr>
          <p:cNvSpPr txBox="1"/>
          <p:nvPr/>
        </p:nvSpPr>
        <p:spPr>
          <a:xfrm>
            <a:off x="6096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100" spc="150">
                <a:solidFill>
                  <a:srgbClr val="4F46E5"/>
                </a:solidFill>
                <a:latin typeface="Segoe UI Semibold" panose="020B0702040204020203" pitchFamily="34" charset="0"/>
              </a:rPr>
              <a:t>LA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52135-FE5F-CFE8-9D08-1A57B4F1592D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3000">
                <a:solidFill>
                  <a:srgbClr val="0F172A"/>
                </a:solidFill>
                <a:latin typeface="Segoe UI Semibold" panose="020B0702040204020203" pitchFamily="34" charset="0"/>
              </a:rPr>
              <a:t>Commandes St Marc, en une phrase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E194C0-AEC8-600B-A51C-B8469024676D}"/>
              </a:ext>
            </a:extLst>
          </p:cNvPr>
          <p:cNvSpPr txBox="1"/>
          <p:nvPr/>
        </p:nvSpPr>
        <p:spPr>
          <a:xfrm>
            <a:off x="609600" y="14224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700">
                <a:solidFill>
                  <a:srgbClr val="475569"/>
                </a:solidFill>
                <a:latin typeface="Segoe UI" panose="020B0502040204020203" pitchFamily="34" charset="0"/>
              </a:rPr>
              <a:t>Une application web du lycée où l’on crée sa demande, où chaque validateur signe en un clic, et où tout le monde suit l’avancement en temps réel.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3A07B6-6D7B-F092-8080-022DFC34287B}"/>
              </a:ext>
            </a:extLst>
          </p:cNvPr>
          <p:cNvSpPr txBox="1"/>
          <p:nvPr/>
        </p:nvSpPr>
        <p:spPr>
          <a:xfrm>
            <a:off x="609600" y="27178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3000">
                <a:solidFill>
                  <a:srgbClr val="4F46E5"/>
                </a:solidFill>
                <a:latin typeface="Segoe UI Semibold" panose="020B0702040204020203" pitchFamily="34" charset="0"/>
              </a:rPr>
              <a:t>0 papier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828020-0688-930D-0EA8-FCCB1EB29809}"/>
              </a:ext>
            </a:extLst>
          </p:cNvPr>
          <p:cNvSpPr txBox="1"/>
          <p:nvPr/>
        </p:nvSpPr>
        <p:spPr>
          <a:xfrm>
            <a:off x="609600" y="3251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300">
                <a:solidFill>
                  <a:srgbClr val="475569"/>
                </a:solidFill>
                <a:latin typeface="Segoe UI" panose="020B0502040204020203" pitchFamily="34" charset="0"/>
              </a:rPr>
              <a:t>Demande, signatures et suivi entièrement en ligne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866C5-50E3-3149-19CA-F4DCFCD50198}"/>
              </a:ext>
            </a:extLst>
          </p:cNvPr>
          <p:cNvSpPr txBox="1"/>
          <p:nvPr/>
        </p:nvSpPr>
        <p:spPr>
          <a:xfrm>
            <a:off x="609600" y="3759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3000">
                <a:solidFill>
                  <a:srgbClr val="4F46E5"/>
                </a:solidFill>
                <a:latin typeface="Segoe UI Semibold" panose="020B0702040204020203" pitchFamily="34" charset="0"/>
              </a:rPr>
              <a:t>1 seul compte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634B78-720E-B829-AFF1-46FF0AA99A0E}"/>
              </a:ext>
            </a:extLst>
          </p:cNvPr>
          <p:cNvSpPr txBox="1"/>
          <p:nvPr/>
        </p:nvSpPr>
        <p:spPr>
          <a:xfrm>
            <a:off x="609600" y="42926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300">
                <a:solidFill>
                  <a:srgbClr val="475569"/>
                </a:solidFill>
                <a:latin typeface="Segoe UI" panose="020B0502040204020203" pitchFamily="34" charset="0"/>
              </a:rPr>
              <a:t>Le compte Microsoft du lycée, rien de nouveau à retenir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F21F71-0BF4-CCEB-5E45-9C69765558F1}"/>
              </a:ext>
            </a:extLst>
          </p:cNvPr>
          <p:cNvSpPr txBox="1"/>
          <p:nvPr/>
        </p:nvSpPr>
        <p:spPr>
          <a:xfrm>
            <a:off x="609600" y="48006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3000">
                <a:solidFill>
                  <a:srgbClr val="4F46E5"/>
                </a:solidFill>
                <a:latin typeface="Segoe UI Semibold" panose="020B0702040204020203" pitchFamily="34" charset="0"/>
              </a:rPr>
              <a:t>100 % traçable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C96406-DD2A-108E-53C9-1B9B3A382301}"/>
              </a:ext>
            </a:extLst>
          </p:cNvPr>
          <p:cNvSpPr txBox="1"/>
          <p:nvPr/>
        </p:nvSpPr>
        <p:spPr>
          <a:xfrm>
            <a:off x="609600" y="53340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300">
                <a:solidFill>
                  <a:srgbClr val="475569"/>
                </a:solidFill>
                <a:latin typeface="Segoe UI" panose="020B0502040204020203" pitchFamily="34" charset="0"/>
              </a:rPr>
              <a:t>Qui a demandé, validé, passé la commande, et quand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D6A08D-F64C-41DF-5102-7670E698970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498600"/>
            <a:ext cx="5232400" cy="3106738"/>
          </a:xfrm>
          <a:prstGeom prst="roundRect">
            <a:avLst>
              <a:gd name="adj" fmla="val 3500"/>
            </a:avLst>
          </a:prstGeom>
          <a:ln w="9525">
            <a:solidFill>
              <a:srgbClr val="E2E6F0"/>
            </a:solidFill>
          </a:ln>
          <a:effectLst>
            <a:outerShdw blurRad="381000" dist="127000" dir="5400000" rotWithShape="0">
              <a:srgbClr val="1E1B4B">
                <a:alpha val="2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198570-C20C-5277-7E32-54E2DAEFBEB9}"/>
              </a:ext>
            </a:extLst>
          </p:cNvPr>
          <p:cNvSpPr txBox="1"/>
          <p:nvPr/>
        </p:nvSpPr>
        <p:spPr>
          <a:xfrm>
            <a:off x="6350000" y="5080000"/>
            <a:ext cx="5232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100">
                <a:solidFill>
                  <a:srgbClr val="94A3B8"/>
                </a:solidFill>
                <a:latin typeface="Segoe UI" panose="020B0502040204020203" pitchFamily="34" charset="0"/>
              </a:rPr>
              <a:t>La page de connexion : un seul bouton « Se connecter avec Microsoft ».</a:t>
            </a:r>
          </a:p>
        </p:txBody>
      </p:sp>
    </p:spTree>
    <p:extLst>
      <p:ext uri="{BB962C8B-B14F-4D97-AF65-F5344CB8AC3E}">
        <p14:creationId xmlns:p14="http://schemas.microsoft.com/office/powerpoint/2010/main" val="3142864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D9481A-8823-B93F-4E63-9BA45998CC7E}"/>
              </a:ext>
            </a:extLst>
          </p:cNvPr>
          <p:cNvSpPr txBox="1"/>
          <p:nvPr/>
        </p:nvSpPr>
        <p:spPr>
          <a:xfrm>
            <a:off x="6096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100" spc="150">
                <a:solidFill>
                  <a:srgbClr val="4F46E5"/>
                </a:solidFill>
                <a:latin typeface="Segoe UI Semibold" panose="020B0702040204020203" pitchFamily="34" charset="0"/>
              </a:rPr>
              <a:t>LE FONCTIONNEMENT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494D5-B797-D278-4745-CA1368288B27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3000">
                <a:solidFill>
                  <a:srgbClr val="0F172A"/>
                </a:solidFill>
                <a:latin typeface="Segoe UI Semibold" panose="020B0702040204020203" pitchFamily="34" charset="0"/>
              </a:rPr>
              <a:t>Le circuit d’une commande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7E44E9E-2145-26AF-A392-0E24F4F31330}"/>
              </a:ext>
            </a:extLst>
          </p:cNvPr>
          <p:cNvSpPr/>
          <p:nvPr/>
        </p:nvSpPr>
        <p:spPr>
          <a:xfrm>
            <a:off x="1168400" y="1625600"/>
            <a:ext cx="914400" cy="914400"/>
          </a:xfrm>
          <a:prstGeom prst="ellipse">
            <a:avLst/>
          </a:prstGeom>
          <a:solidFill>
            <a:srgbClr val="EEF0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200">
                <a:latin typeface="✍️"/>
              </a:rPr>
              <a:t>✍️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F25E07-8344-5A2A-9AA7-1F34DBEE10B9}"/>
              </a:ext>
            </a:extLst>
          </p:cNvPr>
          <p:cNvSpPr txBox="1"/>
          <p:nvPr/>
        </p:nvSpPr>
        <p:spPr>
          <a:xfrm>
            <a:off x="609600" y="27178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Demandeur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8EB425-AAEB-0170-61C1-05FE7509CE79}"/>
              </a:ext>
            </a:extLst>
          </p:cNvPr>
          <p:cNvSpPr txBox="1"/>
          <p:nvPr/>
        </p:nvSpPr>
        <p:spPr>
          <a:xfrm>
            <a:off x="685800" y="3251200"/>
            <a:ext cx="187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Crée la demande, joint les devis, l’envoie : elle est signée à son nom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7E849FF7-71C8-FE07-AB2C-5D5BCDBA119B}"/>
              </a:ext>
            </a:extLst>
          </p:cNvPr>
          <p:cNvSpPr/>
          <p:nvPr/>
        </p:nvSpPr>
        <p:spPr>
          <a:xfrm>
            <a:off x="2590800" y="1955800"/>
            <a:ext cx="279400" cy="279400"/>
          </a:xfrm>
          <a:prstGeom prst="chevron">
            <a:avLst/>
          </a:prstGeom>
          <a:solidFill>
            <a:srgbClr val="C7D2F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FA40C28-48C3-6AA3-F31C-397C738E0219}"/>
              </a:ext>
            </a:extLst>
          </p:cNvPr>
          <p:cNvSpPr/>
          <p:nvPr/>
        </p:nvSpPr>
        <p:spPr>
          <a:xfrm>
            <a:off x="3403600" y="1625600"/>
            <a:ext cx="914400" cy="914400"/>
          </a:xfrm>
          <a:prstGeom prst="ellipse">
            <a:avLst/>
          </a:prstGeom>
          <a:solidFill>
            <a:srgbClr val="E8F0F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200">
                <a:latin typeface="👤"/>
              </a:rPr>
              <a:t>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0B6057-BFA7-7AF1-980C-48BAD969E0A1}"/>
              </a:ext>
            </a:extLst>
          </p:cNvPr>
          <p:cNvSpPr txBox="1"/>
          <p:nvPr/>
        </p:nvSpPr>
        <p:spPr>
          <a:xfrm>
            <a:off x="2844800" y="27178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Responsable de service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244CF9-AAC6-09A7-4F1E-DF2CFE7075C2}"/>
              </a:ext>
            </a:extLst>
          </p:cNvPr>
          <p:cNvSpPr txBox="1"/>
          <p:nvPr/>
        </p:nvSpPr>
        <p:spPr>
          <a:xfrm>
            <a:off x="2921000" y="3251200"/>
            <a:ext cx="187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Valide en premier les demandes de son équipe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640922F7-6E9A-6DEC-6649-05D75BF4E08B}"/>
              </a:ext>
            </a:extLst>
          </p:cNvPr>
          <p:cNvSpPr/>
          <p:nvPr/>
        </p:nvSpPr>
        <p:spPr>
          <a:xfrm>
            <a:off x="4826000" y="1955800"/>
            <a:ext cx="279400" cy="279400"/>
          </a:xfrm>
          <a:prstGeom prst="chevron">
            <a:avLst/>
          </a:prstGeom>
          <a:solidFill>
            <a:srgbClr val="C7D2F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F66409A-1FDB-2C7E-B60B-788BA07EA760}"/>
              </a:ext>
            </a:extLst>
          </p:cNvPr>
          <p:cNvSpPr/>
          <p:nvPr/>
        </p:nvSpPr>
        <p:spPr>
          <a:xfrm>
            <a:off x="5638800" y="1625600"/>
            <a:ext cx="914400" cy="914400"/>
          </a:xfrm>
          <a:prstGeom prst="ellipse">
            <a:avLst/>
          </a:prstGeom>
          <a:solidFill>
            <a:srgbClr val="FDF3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200">
                <a:latin typeface="🏛️"/>
              </a:rPr>
              <a:t>🏛️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B3F3A3-C9C7-64B1-0D72-CCB59D8F81B3}"/>
              </a:ext>
            </a:extLst>
          </p:cNvPr>
          <p:cNvSpPr txBox="1"/>
          <p:nvPr/>
        </p:nvSpPr>
        <p:spPr>
          <a:xfrm>
            <a:off x="5080000" y="27178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Comptabilité + chef d’établissement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F65E9D-038E-9B49-5758-A4BB59335914}"/>
              </a:ext>
            </a:extLst>
          </p:cNvPr>
          <p:cNvSpPr txBox="1"/>
          <p:nvPr/>
        </p:nvSpPr>
        <p:spPr>
          <a:xfrm>
            <a:off x="5156200" y="3251200"/>
            <a:ext cx="187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Valident tous les deux, dans l’ordre qu’ils veulent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2558A729-66FF-223A-B6B9-48E6DCE78C1D}"/>
              </a:ext>
            </a:extLst>
          </p:cNvPr>
          <p:cNvSpPr/>
          <p:nvPr/>
        </p:nvSpPr>
        <p:spPr>
          <a:xfrm>
            <a:off x="7061200" y="1955800"/>
            <a:ext cx="279400" cy="279400"/>
          </a:xfrm>
          <a:prstGeom prst="chevron">
            <a:avLst/>
          </a:prstGeom>
          <a:solidFill>
            <a:srgbClr val="C7D2F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4088F5A-9CEB-54E4-41BF-CC26A5E42F65}"/>
              </a:ext>
            </a:extLst>
          </p:cNvPr>
          <p:cNvSpPr/>
          <p:nvPr/>
        </p:nvSpPr>
        <p:spPr>
          <a:xfrm>
            <a:off x="7874000" y="1625600"/>
            <a:ext cx="914400" cy="914400"/>
          </a:xfrm>
          <a:prstGeom prst="ellipse">
            <a:avLst/>
          </a:prstGeom>
          <a:solidFill>
            <a:srgbClr val="E7F7E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200">
                <a:latin typeface="📦"/>
              </a:rPr>
              <a:t>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6B1573-5E9B-B959-3604-004786555692}"/>
              </a:ext>
            </a:extLst>
          </p:cNvPr>
          <p:cNvSpPr txBox="1"/>
          <p:nvPr/>
        </p:nvSpPr>
        <p:spPr>
          <a:xfrm>
            <a:off x="7315200" y="27178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Exécution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248BFD-0130-B3A4-76EB-58CC51EFEDC7}"/>
              </a:ext>
            </a:extLst>
          </p:cNvPr>
          <p:cNvSpPr txBox="1"/>
          <p:nvPr/>
        </p:nvSpPr>
        <p:spPr>
          <a:xfrm>
            <a:off x="7391400" y="3251200"/>
            <a:ext cx="187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Chaque fournisseur est passé par son exécuteur attitré, sinon par la comptabilité</a:t>
            </a: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788EF5F7-6920-27B6-6F44-62A75300DD33}"/>
              </a:ext>
            </a:extLst>
          </p:cNvPr>
          <p:cNvSpPr/>
          <p:nvPr/>
        </p:nvSpPr>
        <p:spPr>
          <a:xfrm>
            <a:off x="9296400" y="1955800"/>
            <a:ext cx="279400" cy="279400"/>
          </a:xfrm>
          <a:prstGeom prst="chevron">
            <a:avLst/>
          </a:prstGeom>
          <a:solidFill>
            <a:srgbClr val="C7D2F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D95F85B-642C-762E-0A68-AD339FED7172}"/>
              </a:ext>
            </a:extLst>
          </p:cNvPr>
          <p:cNvSpPr/>
          <p:nvPr/>
        </p:nvSpPr>
        <p:spPr>
          <a:xfrm>
            <a:off x="10109200" y="1625600"/>
            <a:ext cx="914400" cy="914400"/>
          </a:xfrm>
          <a:prstGeom prst="ellipse">
            <a:avLst/>
          </a:prstGeom>
          <a:solidFill>
            <a:srgbClr val="E4F6F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200">
                <a:latin typeface="✅"/>
              </a:rPr>
              <a:t>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FD3182-D4F8-F365-258D-631398A07543}"/>
              </a:ext>
            </a:extLst>
          </p:cNvPr>
          <p:cNvSpPr txBox="1"/>
          <p:nvPr/>
        </p:nvSpPr>
        <p:spPr>
          <a:xfrm>
            <a:off x="9550400" y="27178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Finalisée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9EAF19-04FE-FD54-60FB-F20282DCB5BE}"/>
              </a:ext>
            </a:extLst>
          </p:cNvPr>
          <p:cNvSpPr txBox="1"/>
          <p:nvPr/>
        </p:nvSpPr>
        <p:spPr>
          <a:xfrm>
            <a:off x="9626600" y="3251200"/>
            <a:ext cx="187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Le demandeur est prévenu, le bon PDF est archivé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0D05766-A872-AE48-7D8A-EFE1DDCBF6D9}"/>
              </a:ext>
            </a:extLst>
          </p:cNvPr>
          <p:cNvSpPr/>
          <p:nvPr/>
        </p:nvSpPr>
        <p:spPr>
          <a:xfrm>
            <a:off x="609600" y="4597400"/>
            <a:ext cx="5334000" cy="1219200"/>
          </a:xfrm>
          <a:prstGeom prst="roundRect">
            <a:avLst>
              <a:gd name="adj" fmla="val 14583"/>
            </a:avLst>
          </a:prstGeom>
          <a:solidFill>
            <a:srgbClr val="FDECE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13B87F-B675-258D-7EB1-F07C6F1F55B4}"/>
              </a:ext>
            </a:extLst>
          </p:cNvPr>
          <p:cNvSpPr/>
          <p:nvPr/>
        </p:nvSpPr>
        <p:spPr>
          <a:xfrm>
            <a:off x="838200" y="4902200"/>
            <a:ext cx="609600" cy="609600"/>
          </a:xfrm>
          <a:prstGeom prst="ellipse">
            <a:avLst/>
          </a:prstGeom>
          <a:solidFill>
            <a:srgbClr val="FDECE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200">
                <a:latin typeface="✋"/>
              </a:rPr>
              <a:t>✋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C817D5-AA86-A3DB-2255-C08CEB152CB4}"/>
              </a:ext>
            </a:extLst>
          </p:cNvPr>
          <p:cNvSpPr txBox="1"/>
          <p:nvPr/>
        </p:nvSpPr>
        <p:spPr>
          <a:xfrm>
            <a:off x="1625600" y="48514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400">
                <a:solidFill>
                  <a:srgbClr val="B91C1C"/>
                </a:solidFill>
                <a:latin typeface="Segoe UI Semibold" panose="020B0702040204020203" pitchFamily="34" charset="0"/>
              </a:rPr>
              <a:t>Un refus arrête tout</a:t>
            </a:r>
          </a:p>
          <a:p>
            <a:pPr>
              <a:lnSpc>
                <a:spcPct val="105000"/>
              </a:lnSpc>
            </a:pPr>
            <a:r>
              <a:rPr lang="fr-FR" sz="1200">
                <a:solidFill>
                  <a:srgbClr val="0F172A"/>
                </a:solidFill>
                <a:latin typeface="Segoe UI" panose="020B0502040204020203" pitchFamily="34" charset="0"/>
              </a:rPr>
              <a:t>À n’importe quelle étape, avec un motif obligatoire envoyé au demandeur.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D1D2710-3189-D8AD-6105-1A1A1D8FCFD5}"/>
              </a:ext>
            </a:extLst>
          </p:cNvPr>
          <p:cNvSpPr/>
          <p:nvPr/>
        </p:nvSpPr>
        <p:spPr>
          <a:xfrm>
            <a:off x="6248400" y="4597400"/>
            <a:ext cx="5334000" cy="1219200"/>
          </a:xfrm>
          <a:prstGeom prst="roundRect">
            <a:avLst>
              <a:gd name="adj" fmla="val 14583"/>
            </a:avLst>
          </a:prstGeom>
          <a:solidFill>
            <a:srgbClr val="E8F0F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5F04C70-6FBF-6B6D-C591-757492B4ADD9}"/>
              </a:ext>
            </a:extLst>
          </p:cNvPr>
          <p:cNvSpPr/>
          <p:nvPr/>
        </p:nvSpPr>
        <p:spPr>
          <a:xfrm>
            <a:off x="6477000" y="4902200"/>
            <a:ext cx="609600" cy="609600"/>
          </a:xfrm>
          <a:prstGeom prst="ellipse">
            <a:avLst/>
          </a:prstGeom>
          <a:solidFill>
            <a:srgbClr val="E8F0F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200">
                <a:latin typeface="✉️"/>
              </a:rPr>
              <a:t>✉️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F3CD61-3D1D-CF33-A4EB-E8F2CAF7D5A4}"/>
              </a:ext>
            </a:extLst>
          </p:cNvPr>
          <p:cNvSpPr txBox="1"/>
          <p:nvPr/>
        </p:nvSpPr>
        <p:spPr>
          <a:xfrm>
            <a:off x="7264400" y="48514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400">
                <a:solidFill>
                  <a:srgbClr val="1D4ED8"/>
                </a:solidFill>
                <a:latin typeface="Segoe UI Semibold" panose="020B0702040204020203" pitchFamily="34" charset="0"/>
              </a:rPr>
              <a:t>Un e-mail à chaque étape</a:t>
            </a:r>
          </a:p>
          <a:p>
            <a:pPr>
              <a:lnSpc>
                <a:spcPct val="105000"/>
              </a:lnSpc>
            </a:pPr>
            <a:r>
              <a:rPr lang="fr-FR" sz="1200">
                <a:solidFill>
                  <a:srgbClr val="0F172A"/>
                </a:solidFill>
                <a:latin typeface="Segoe UI" panose="020B0502040204020203" pitchFamily="34" charset="0"/>
              </a:rPr>
              <a:t>La bonne personne est prévenue au bon moment, avec un bouton pour ouvrir la commande.</a:t>
            </a:r>
          </a:p>
        </p:txBody>
      </p:sp>
    </p:spTree>
    <p:extLst>
      <p:ext uri="{BB962C8B-B14F-4D97-AF65-F5344CB8AC3E}">
        <p14:creationId xmlns:p14="http://schemas.microsoft.com/office/powerpoint/2010/main" val="1414238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1E272B-68E5-6006-9B6D-99CE5B457823}"/>
              </a:ext>
            </a:extLst>
          </p:cNvPr>
          <p:cNvSpPr txBox="1"/>
          <p:nvPr/>
        </p:nvSpPr>
        <p:spPr>
          <a:xfrm>
            <a:off x="6096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100" spc="150">
                <a:solidFill>
                  <a:srgbClr val="4F46E5"/>
                </a:solidFill>
                <a:latin typeface="Segoe UI Semibold" panose="020B0702040204020203" pitchFamily="34" charset="0"/>
              </a:rPr>
              <a:t>L’ORGANISATION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D89084-E306-8B89-451C-DEC008906665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3000">
                <a:solidFill>
                  <a:srgbClr val="0F172A"/>
                </a:solidFill>
                <a:latin typeface="Segoe UI Semibold" panose="020B0702040204020203" pitchFamily="34" charset="0"/>
              </a:rPr>
              <a:t>Qui fait quoi 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9C8095-671C-8515-070F-6188EDC9F94C}"/>
              </a:ext>
            </a:extLst>
          </p:cNvPr>
          <p:cNvSpPr/>
          <p:nvPr/>
        </p:nvSpPr>
        <p:spPr>
          <a:xfrm>
            <a:off x="609600" y="1498600"/>
            <a:ext cx="2590800" cy="1905000"/>
          </a:xfrm>
          <a:prstGeom prst="roundRect">
            <a:avLst>
              <a:gd name="adj" fmla="val 9333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E78EF5F-663A-6CAC-A117-3FAF11670F67}"/>
              </a:ext>
            </a:extLst>
          </p:cNvPr>
          <p:cNvSpPr/>
          <p:nvPr/>
        </p:nvSpPr>
        <p:spPr>
          <a:xfrm>
            <a:off x="812800" y="1701800"/>
            <a:ext cx="558800" cy="558800"/>
          </a:xfrm>
          <a:prstGeom prst="ellipse">
            <a:avLst/>
          </a:prstGeom>
          <a:solidFill>
            <a:srgbClr val="EEF0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>
                <a:latin typeface="✍️"/>
              </a:rPr>
              <a:t>✍️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245DA2-C23F-C81C-CC25-302E0086A854}"/>
              </a:ext>
            </a:extLst>
          </p:cNvPr>
          <p:cNvSpPr txBox="1"/>
          <p:nvPr/>
        </p:nvSpPr>
        <p:spPr>
          <a:xfrm>
            <a:off x="812800" y="23876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Demandeur</a:t>
            </a:r>
          </a:p>
          <a:p>
            <a:pPr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Crée et suit ses demandes. Attribué automatiquement à tout le personnel.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8FAE7B-2E21-E63D-70FA-0F81331BA2C2}"/>
              </a:ext>
            </a:extLst>
          </p:cNvPr>
          <p:cNvSpPr/>
          <p:nvPr/>
        </p:nvSpPr>
        <p:spPr>
          <a:xfrm>
            <a:off x="3403600" y="1498600"/>
            <a:ext cx="2590800" cy="1905000"/>
          </a:xfrm>
          <a:prstGeom prst="roundRect">
            <a:avLst>
              <a:gd name="adj" fmla="val 9333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B20933-2055-BD5E-C1D3-1371913A3137}"/>
              </a:ext>
            </a:extLst>
          </p:cNvPr>
          <p:cNvSpPr/>
          <p:nvPr/>
        </p:nvSpPr>
        <p:spPr>
          <a:xfrm>
            <a:off x="3606800" y="1701800"/>
            <a:ext cx="558800" cy="558800"/>
          </a:xfrm>
          <a:prstGeom prst="ellipse">
            <a:avLst/>
          </a:prstGeom>
          <a:solidFill>
            <a:srgbClr val="E8F0F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>
                <a:latin typeface="👤"/>
              </a:rPr>
              <a:t>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38F712-9604-9DF9-DD68-9505BFB37B32}"/>
              </a:ext>
            </a:extLst>
          </p:cNvPr>
          <p:cNvSpPr txBox="1"/>
          <p:nvPr/>
        </p:nvSpPr>
        <p:spPr>
          <a:xfrm>
            <a:off x="3606800" y="23876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Responsable de service</a:t>
            </a:r>
          </a:p>
          <a:p>
            <a:pPr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Valide en premier les demandes de son service.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CEA31BA-14A2-6B5E-9E1E-093A12A3EE1F}"/>
              </a:ext>
            </a:extLst>
          </p:cNvPr>
          <p:cNvSpPr/>
          <p:nvPr/>
        </p:nvSpPr>
        <p:spPr>
          <a:xfrm>
            <a:off x="6197600" y="1498600"/>
            <a:ext cx="2590800" cy="1905000"/>
          </a:xfrm>
          <a:prstGeom prst="roundRect">
            <a:avLst>
              <a:gd name="adj" fmla="val 9333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34CF62B-9E93-28AD-5F15-9368EAE85147}"/>
              </a:ext>
            </a:extLst>
          </p:cNvPr>
          <p:cNvSpPr/>
          <p:nvPr/>
        </p:nvSpPr>
        <p:spPr>
          <a:xfrm>
            <a:off x="6400800" y="1701800"/>
            <a:ext cx="558800" cy="558800"/>
          </a:xfrm>
          <a:prstGeom prst="ellipse">
            <a:avLst/>
          </a:prstGeom>
          <a:solidFill>
            <a:srgbClr val="FDF3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>
                <a:latin typeface="💶"/>
              </a:rPr>
              <a:t>💶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D0569D-050E-9C53-30E4-4E0D254059CD}"/>
              </a:ext>
            </a:extLst>
          </p:cNvPr>
          <p:cNvSpPr txBox="1"/>
          <p:nvPr/>
        </p:nvSpPr>
        <p:spPr>
          <a:xfrm>
            <a:off x="6400800" y="23876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Comptabilité</a:t>
            </a:r>
          </a:p>
          <a:p>
            <a:pPr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Valide chaque commande et passe celles des fournisseurs sans exécuteur attitré.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A5B3E16-5A76-084C-18A9-686780B8DDCE}"/>
              </a:ext>
            </a:extLst>
          </p:cNvPr>
          <p:cNvSpPr/>
          <p:nvPr/>
        </p:nvSpPr>
        <p:spPr>
          <a:xfrm>
            <a:off x="8991600" y="1498600"/>
            <a:ext cx="2590800" cy="1905000"/>
          </a:xfrm>
          <a:prstGeom prst="roundRect">
            <a:avLst>
              <a:gd name="adj" fmla="val 9333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B3B7141-D5A7-AF18-768C-ACCEF04214DC}"/>
              </a:ext>
            </a:extLst>
          </p:cNvPr>
          <p:cNvSpPr/>
          <p:nvPr/>
        </p:nvSpPr>
        <p:spPr>
          <a:xfrm>
            <a:off x="9194800" y="1701800"/>
            <a:ext cx="558800" cy="558800"/>
          </a:xfrm>
          <a:prstGeom prst="ellipse">
            <a:avLst/>
          </a:prstGeom>
          <a:solidFill>
            <a:srgbClr val="FDF3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>
                <a:latin typeface="🏛️"/>
              </a:rPr>
              <a:t>🏛️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5A7E73-755F-9DF0-5018-F31FBB41C7F2}"/>
              </a:ext>
            </a:extLst>
          </p:cNvPr>
          <p:cNvSpPr txBox="1"/>
          <p:nvPr/>
        </p:nvSpPr>
        <p:spPr>
          <a:xfrm>
            <a:off x="9194800" y="23876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Chef d’établissement</a:t>
            </a:r>
          </a:p>
          <a:p>
            <a:pPr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Valide chaque commande.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6F33E81-0BC9-61A5-A83A-53BE265A5006}"/>
              </a:ext>
            </a:extLst>
          </p:cNvPr>
          <p:cNvSpPr/>
          <p:nvPr/>
        </p:nvSpPr>
        <p:spPr>
          <a:xfrm>
            <a:off x="609600" y="3606800"/>
            <a:ext cx="2590800" cy="1905000"/>
          </a:xfrm>
          <a:prstGeom prst="roundRect">
            <a:avLst>
              <a:gd name="adj" fmla="val 9333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C94D14-4D18-9D58-FA53-9FB157F4AC26}"/>
              </a:ext>
            </a:extLst>
          </p:cNvPr>
          <p:cNvSpPr/>
          <p:nvPr/>
        </p:nvSpPr>
        <p:spPr>
          <a:xfrm>
            <a:off x="812800" y="3810000"/>
            <a:ext cx="558800" cy="558800"/>
          </a:xfrm>
          <a:prstGeom prst="ellipse">
            <a:avLst/>
          </a:prstGeom>
          <a:solidFill>
            <a:srgbClr val="E7F7E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>
                <a:latin typeface="📦"/>
              </a:rPr>
              <a:t>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DB66FE-7F12-BAFC-2D47-917D7A217544}"/>
              </a:ext>
            </a:extLst>
          </p:cNvPr>
          <p:cNvSpPr txBox="1"/>
          <p:nvPr/>
        </p:nvSpPr>
        <p:spPr>
          <a:xfrm>
            <a:off x="812800" y="44958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Exécuteur</a:t>
            </a:r>
          </a:p>
          <a:p>
            <a:pPr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Passe les commandes des fournisseurs qui lui sont confiés.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C1480E8-DB30-7535-08FE-6BD581EF9BB4}"/>
              </a:ext>
            </a:extLst>
          </p:cNvPr>
          <p:cNvSpPr/>
          <p:nvPr/>
        </p:nvSpPr>
        <p:spPr>
          <a:xfrm>
            <a:off x="3403600" y="3606800"/>
            <a:ext cx="2590800" cy="1905000"/>
          </a:xfrm>
          <a:prstGeom prst="roundRect">
            <a:avLst>
              <a:gd name="adj" fmla="val 9333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24800C8-00FB-E97C-CE48-8D210807EE46}"/>
              </a:ext>
            </a:extLst>
          </p:cNvPr>
          <p:cNvSpPr/>
          <p:nvPr/>
        </p:nvSpPr>
        <p:spPr>
          <a:xfrm>
            <a:off x="3606800" y="3810000"/>
            <a:ext cx="558800" cy="558800"/>
          </a:xfrm>
          <a:prstGeom prst="ellipse">
            <a:avLst/>
          </a:prstGeom>
          <a:solidFill>
            <a:srgbClr val="E4F6F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>
                <a:latin typeface="👁️"/>
              </a:rPr>
              <a:t>👁️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5EA8F8-FF04-7C8B-EE40-C837630254DD}"/>
              </a:ext>
            </a:extLst>
          </p:cNvPr>
          <p:cNvSpPr txBox="1"/>
          <p:nvPr/>
        </p:nvSpPr>
        <p:spPr>
          <a:xfrm>
            <a:off x="3606800" y="44958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Lecteur</a:t>
            </a:r>
          </a:p>
          <a:p>
            <a:pPr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Consulte les commandes validées et leur PDF.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3A522E1-B950-DD84-56F7-BE866F5C9071}"/>
              </a:ext>
            </a:extLst>
          </p:cNvPr>
          <p:cNvSpPr/>
          <p:nvPr/>
        </p:nvSpPr>
        <p:spPr>
          <a:xfrm>
            <a:off x="6197600" y="3606800"/>
            <a:ext cx="2590800" cy="1905000"/>
          </a:xfrm>
          <a:prstGeom prst="roundRect">
            <a:avLst>
              <a:gd name="adj" fmla="val 9333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BB18C2A-79A4-C7D3-E110-EABEB4ADE0A5}"/>
              </a:ext>
            </a:extLst>
          </p:cNvPr>
          <p:cNvSpPr/>
          <p:nvPr/>
        </p:nvSpPr>
        <p:spPr>
          <a:xfrm>
            <a:off x="6400800" y="3810000"/>
            <a:ext cx="558800" cy="558800"/>
          </a:xfrm>
          <a:prstGeom prst="ellipse">
            <a:avLst/>
          </a:prstGeom>
          <a:solidFill>
            <a:srgbClr val="EEF0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>
                <a:latin typeface="⚙️"/>
              </a:rPr>
              <a:t>⚙️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21F637-DF65-F427-6F8E-1E66E19179FB}"/>
              </a:ext>
            </a:extLst>
          </p:cNvPr>
          <p:cNvSpPr txBox="1"/>
          <p:nvPr/>
        </p:nvSpPr>
        <p:spPr>
          <a:xfrm>
            <a:off x="6400800" y="44958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Administrateur</a:t>
            </a:r>
          </a:p>
          <a:p>
            <a:pPr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Gère les comptes, services, destinations et fournisseurs.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29E5719-714B-74D1-B0C5-AC6431BEE4E9}"/>
              </a:ext>
            </a:extLst>
          </p:cNvPr>
          <p:cNvSpPr/>
          <p:nvPr/>
        </p:nvSpPr>
        <p:spPr>
          <a:xfrm>
            <a:off x="8991600" y="3606800"/>
            <a:ext cx="2590800" cy="1905000"/>
          </a:xfrm>
          <a:prstGeom prst="roundRect">
            <a:avLst>
              <a:gd name="adj" fmla="val 9333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5808FF8-7C98-F62E-4612-B8D19F133530}"/>
              </a:ext>
            </a:extLst>
          </p:cNvPr>
          <p:cNvSpPr/>
          <p:nvPr/>
        </p:nvSpPr>
        <p:spPr>
          <a:xfrm>
            <a:off x="9194800" y="3810000"/>
            <a:ext cx="558800" cy="558800"/>
          </a:xfrm>
          <a:prstGeom prst="ellipse">
            <a:avLst/>
          </a:prstGeom>
          <a:solidFill>
            <a:srgbClr val="FDECE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000">
                <a:latin typeface="🚫"/>
              </a:rPr>
              <a:t>🚫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39392C-4BDE-A5DF-3C2A-FD98F25CD136}"/>
              </a:ext>
            </a:extLst>
          </p:cNvPr>
          <p:cNvSpPr txBox="1"/>
          <p:nvPr/>
        </p:nvSpPr>
        <p:spPr>
          <a:xfrm>
            <a:off x="9194800" y="44958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Élèves</a:t>
            </a:r>
          </a:p>
          <a:p>
            <a:pPr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Exclus automatiquement : l’accès est refusé dès la connexion.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4862DA-E21D-5767-5E76-D35AA0B2D8AE}"/>
              </a:ext>
            </a:extLst>
          </p:cNvPr>
          <p:cNvSpPr txBox="1"/>
          <p:nvPr/>
        </p:nvSpPr>
        <p:spPr>
          <a:xfrm>
            <a:off x="609600" y="56896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200">
                <a:solidFill>
                  <a:srgbClr val="94A3B8"/>
                </a:solidFill>
                <a:latin typeface="Segoe UI" panose="020B0502040204020203" pitchFamily="34" charset="0"/>
              </a:rPr>
              <a:t>Une personne peut cumuler plusieurs rôles ; le menu de l’application s’adapte automatiquement.</a:t>
            </a:r>
          </a:p>
        </p:txBody>
      </p:sp>
    </p:spTree>
    <p:extLst>
      <p:ext uri="{BB962C8B-B14F-4D97-AF65-F5344CB8AC3E}">
        <p14:creationId xmlns:p14="http://schemas.microsoft.com/office/powerpoint/2010/main" val="1080377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B841EC-60F3-B748-2226-CA23677A7271}"/>
              </a:ext>
            </a:extLst>
          </p:cNvPr>
          <p:cNvSpPr txBox="1"/>
          <p:nvPr/>
        </p:nvSpPr>
        <p:spPr>
          <a:xfrm>
            <a:off x="6096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100" spc="150">
                <a:solidFill>
                  <a:srgbClr val="4F46E5"/>
                </a:solidFill>
                <a:latin typeface="Segoe UI Semibold" panose="020B0702040204020203" pitchFamily="34" charset="0"/>
              </a:rPr>
              <a:t>DÉMONSTRATION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9D19C7-412D-AA5E-2314-2BEED7B6C7A6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3000">
                <a:solidFill>
                  <a:srgbClr val="0F172A"/>
                </a:solidFill>
                <a:latin typeface="Segoe UI Semibold" panose="020B0702040204020203" pitchFamily="34" charset="0"/>
              </a:rPr>
              <a:t>Faire une demande : quelques minutes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C784AA-B9A0-400C-3360-425D2857B65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73200"/>
            <a:ext cx="7112000" cy="4840111"/>
          </a:xfrm>
          <a:prstGeom prst="roundRect">
            <a:avLst>
              <a:gd name="adj" fmla="val 3500"/>
            </a:avLst>
          </a:prstGeom>
          <a:ln w="9525">
            <a:solidFill>
              <a:srgbClr val="E2E6F0"/>
            </a:solidFill>
          </a:ln>
          <a:effectLst>
            <a:outerShdw blurRad="381000" dist="127000" dir="5400000" rotWithShape="0">
              <a:srgbClr val="1E1B4B">
                <a:alpha val="25000"/>
              </a:srgbClr>
            </a:outerShdw>
          </a:effec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F1A0EBF-F9CB-1289-49BE-C59802398992}"/>
              </a:ext>
            </a:extLst>
          </p:cNvPr>
          <p:cNvSpPr/>
          <p:nvPr/>
        </p:nvSpPr>
        <p:spPr>
          <a:xfrm>
            <a:off x="8077200" y="1524000"/>
            <a:ext cx="406400" cy="406400"/>
          </a:xfrm>
          <a:prstGeom prst="ellipse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300">
                <a:solidFill>
                  <a:srgbClr val="FFFFFF"/>
                </a:solidFill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B0BEB1-BA97-D991-2550-466E1D410931}"/>
              </a:ext>
            </a:extLst>
          </p:cNvPr>
          <p:cNvSpPr txBox="1"/>
          <p:nvPr/>
        </p:nvSpPr>
        <p:spPr>
          <a:xfrm>
            <a:off x="8636000" y="14986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Nouvelle commande</a:t>
            </a:r>
          </a:p>
          <a:p>
            <a:pPr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Un brouillon est créé, à la date du jour et au nom du demandeur.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2F1252-4BB5-9E86-EA99-344730FEB3D0}"/>
              </a:ext>
            </a:extLst>
          </p:cNvPr>
          <p:cNvSpPr/>
          <p:nvPr/>
        </p:nvSpPr>
        <p:spPr>
          <a:xfrm>
            <a:off x="8077200" y="2616200"/>
            <a:ext cx="406400" cy="406400"/>
          </a:xfrm>
          <a:prstGeom prst="ellipse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300">
                <a:solidFill>
                  <a:srgbClr val="FFFFFF"/>
                </a:solidFill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FEB582-C609-C373-4307-0680B009CC82}"/>
              </a:ext>
            </a:extLst>
          </p:cNvPr>
          <p:cNvSpPr txBox="1"/>
          <p:nvPr/>
        </p:nvSpPr>
        <p:spPr>
          <a:xfrm>
            <a:off x="8636000" y="25908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Ajouter les articles</a:t>
            </a:r>
          </a:p>
          <a:p>
            <a:pPr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Fournisseur, destination, motif, quantité, prix : le total TTC se calcule seul.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C72B381-9DF2-D450-CA1D-9C06AF7706C4}"/>
              </a:ext>
            </a:extLst>
          </p:cNvPr>
          <p:cNvSpPr/>
          <p:nvPr/>
        </p:nvSpPr>
        <p:spPr>
          <a:xfrm>
            <a:off x="8077200" y="3708400"/>
            <a:ext cx="406400" cy="406400"/>
          </a:xfrm>
          <a:prstGeom prst="ellipse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300">
                <a:solidFill>
                  <a:srgbClr val="FFFFFF"/>
                </a:solidFill>
                <a:latin typeface="Segoe UI Semibold" panose="020B0702040204020203" pitchFamily="34" charset="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2A615C-75AE-F0A1-706C-B916A59BCE70}"/>
              </a:ext>
            </a:extLst>
          </p:cNvPr>
          <p:cNvSpPr txBox="1"/>
          <p:nvPr/>
        </p:nvSpPr>
        <p:spPr>
          <a:xfrm>
            <a:off x="8636000" y="36830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Joindre devis et captures</a:t>
            </a:r>
          </a:p>
          <a:p>
            <a:pPr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Glisser un fichier, ou coller une capture d’écran (Windows + Maj + S, puis Ctrl + V).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622B7F-FDC3-5225-CCE7-D7E0FEBEA071}"/>
              </a:ext>
            </a:extLst>
          </p:cNvPr>
          <p:cNvSpPr/>
          <p:nvPr/>
        </p:nvSpPr>
        <p:spPr>
          <a:xfrm>
            <a:off x="8077200" y="4800600"/>
            <a:ext cx="406400" cy="406400"/>
          </a:xfrm>
          <a:prstGeom prst="ellipse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300">
                <a:solidFill>
                  <a:srgbClr val="FFFFFF"/>
                </a:solidFill>
                <a:latin typeface="Segoe UI Semibold" panose="020B0702040204020203" pitchFamily="34" charset="0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95B4C2-47A7-EE0E-483C-BE7CDE011F4A}"/>
              </a:ext>
            </a:extLst>
          </p:cNvPr>
          <p:cNvSpPr txBox="1"/>
          <p:nvPr/>
        </p:nvSpPr>
        <p:spPr>
          <a:xfrm>
            <a:off x="8636000" y="47752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Envoyer</a:t>
            </a:r>
          </a:p>
          <a:p>
            <a:pPr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Numéro attribué, signature électronique, responsable prévenu par e-mail.</a:t>
            </a:r>
          </a:p>
        </p:txBody>
      </p:sp>
    </p:spTree>
    <p:extLst>
      <p:ext uri="{BB962C8B-B14F-4D97-AF65-F5344CB8AC3E}">
        <p14:creationId xmlns:p14="http://schemas.microsoft.com/office/powerpoint/2010/main" val="1622999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09F31C-472A-DEDC-1911-82903D74D8D3}"/>
              </a:ext>
            </a:extLst>
          </p:cNvPr>
          <p:cNvSpPr txBox="1"/>
          <p:nvPr/>
        </p:nvSpPr>
        <p:spPr>
          <a:xfrm>
            <a:off x="6096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100" spc="150">
                <a:solidFill>
                  <a:srgbClr val="4F46E5"/>
                </a:solidFill>
                <a:latin typeface="Segoe UI Semibold" panose="020B0702040204020203" pitchFamily="34" charset="0"/>
              </a:rPr>
              <a:t>DÉMONSTRATION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1D767-717D-3625-E866-4B52F3707235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3000">
                <a:solidFill>
                  <a:srgbClr val="0F172A"/>
                </a:solidFill>
                <a:latin typeface="Segoe UI Semibold" panose="020B0702040204020203" pitchFamily="34" charset="0"/>
              </a:rPr>
              <a:t>Valider : deux clics, de n’importe où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D3B887D-0E26-E789-E22C-98369F331021}"/>
              </a:ext>
            </a:extLst>
          </p:cNvPr>
          <p:cNvSpPr/>
          <p:nvPr/>
        </p:nvSpPr>
        <p:spPr>
          <a:xfrm>
            <a:off x="609600" y="1574800"/>
            <a:ext cx="584200" cy="584200"/>
          </a:xfrm>
          <a:prstGeom prst="ellipse">
            <a:avLst/>
          </a:prstGeom>
          <a:solidFill>
            <a:srgbClr val="E8F0F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100">
                <a:latin typeface="✉️"/>
              </a:rPr>
              <a:t>✉️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DE0E21-EE59-A7FE-90CA-AAF42168283E}"/>
              </a:ext>
            </a:extLst>
          </p:cNvPr>
          <p:cNvSpPr txBox="1"/>
          <p:nvPr/>
        </p:nvSpPr>
        <p:spPr>
          <a:xfrm>
            <a:off x="1371600" y="16002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Prévenu par e-mail</a:t>
            </a:r>
          </a:p>
          <a:p>
            <a:pPr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Un bouton ouvre directement la commande, au lycée ou à distance.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7FC4BA2-D0E3-2D85-D78A-73699AB09005}"/>
              </a:ext>
            </a:extLst>
          </p:cNvPr>
          <p:cNvSpPr/>
          <p:nvPr/>
        </p:nvSpPr>
        <p:spPr>
          <a:xfrm>
            <a:off x="609600" y="2895600"/>
            <a:ext cx="584200" cy="584200"/>
          </a:xfrm>
          <a:prstGeom prst="ellipse">
            <a:avLst/>
          </a:prstGeom>
          <a:solidFill>
            <a:srgbClr val="EEF0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100">
                <a:latin typeface="🔎"/>
              </a:rPr>
              <a:t>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65DD45-382E-1E1B-05B9-CC111D13B126}"/>
              </a:ext>
            </a:extLst>
          </p:cNvPr>
          <p:cNvSpPr txBox="1"/>
          <p:nvPr/>
        </p:nvSpPr>
        <p:spPr>
          <a:xfrm>
            <a:off x="1371600" y="29210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Tout est sous les yeux</a:t>
            </a:r>
          </a:p>
          <a:p>
            <a:pPr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Articles, destinations, devis joints, total, circuit des signatures.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96CC94-7F38-F66E-EF12-9828A93D737F}"/>
              </a:ext>
            </a:extLst>
          </p:cNvPr>
          <p:cNvSpPr/>
          <p:nvPr/>
        </p:nvSpPr>
        <p:spPr>
          <a:xfrm>
            <a:off x="609600" y="4216400"/>
            <a:ext cx="584200" cy="584200"/>
          </a:xfrm>
          <a:prstGeom prst="ellipse">
            <a:avLst/>
          </a:prstGeom>
          <a:solidFill>
            <a:srgbClr val="E7F7E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100">
                <a:latin typeface="✅"/>
              </a:rPr>
              <a:t>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44710C-7E06-84E2-DFB0-0575942170D9}"/>
              </a:ext>
            </a:extLst>
          </p:cNvPr>
          <p:cNvSpPr txBox="1"/>
          <p:nvPr/>
        </p:nvSpPr>
        <p:spPr>
          <a:xfrm>
            <a:off x="1371600" y="42418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400">
                <a:solidFill>
                  <a:srgbClr val="0F172A"/>
                </a:solidFill>
                <a:latin typeface="Segoe UI Semibold" panose="020B0702040204020203" pitchFamily="34" charset="0"/>
              </a:rPr>
              <a:t>Valider ou refuser</a:t>
            </a:r>
          </a:p>
          <a:p>
            <a:pPr>
              <a:lnSpc>
                <a:spcPct val="105000"/>
              </a:lnSpc>
            </a:pPr>
            <a:r>
              <a:rPr lang="fr-FR" sz="1150">
                <a:solidFill>
                  <a:srgbClr val="475569"/>
                </a:solidFill>
                <a:latin typeface="Segoe UI" panose="020B0502040204020203" pitchFamily="34" charset="0"/>
              </a:rPr>
              <a:t>Refus toujours motivé ; le demandeur est prévenu immédiatement.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A93904-12A4-79D7-7249-5B613EFC0C0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800" y="1473200"/>
            <a:ext cx="6959600" cy="4833055"/>
          </a:xfrm>
          <a:prstGeom prst="roundRect">
            <a:avLst>
              <a:gd name="adj" fmla="val 3500"/>
            </a:avLst>
          </a:prstGeom>
          <a:ln w="9525">
            <a:solidFill>
              <a:srgbClr val="E2E6F0"/>
            </a:solidFill>
          </a:ln>
          <a:effectLst>
            <a:outerShdw blurRad="381000" dist="127000" dir="5400000" rotWithShape="0">
              <a:srgbClr val="1E1B4B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6078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AC5A35-16C1-38FD-6E6A-CA8BF7438863}"/>
              </a:ext>
            </a:extLst>
          </p:cNvPr>
          <p:cNvSpPr txBox="1"/>
          <p:nvPr/>
        </p:nvSpPr>
        <p:spPr>
          <a:xfrm>
            <a:off x="6096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100" spc="150">
                <a:solidFill>
                  <a:srgbClr val="4F46E5"/>
                </a:solidFill>
                <a:latin typeface="Segoe UI Semibold" panose="020B0702040204020203" pitchFamily="34" charset="0"/>
              </a:rPr>
              <a:t>SUIVI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C2FB9-03E8-6052-BBE0-7C73F13F3B5F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3000">
                <a:solidFill>
                  <a:srgbClr val="0F172A"/>
                </a:solidFill>
                <a:latin typeface="Segoe UI Semibold" panose="020B0702040204020203" pitchFamily="34" charset="0"/>
              </a:rPr>
              <a:t>Chacun est informé, tout est archivé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CAF0D-5708-504F-1043-ECAA5A957F19}"/>
              </a:ext>
            </a:extLst>
          </p:cNvPr>
          <p:cNvSpPr txBox="1"/>
          <p:nvPr/>
        </p:nvSpPr>
        <p:spPr>
          <a:xfrm>
            <a:off x="609600" y="15748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500">
                <a:solidFill>
                  <a:srgbClr val="0F172A"/>
                </a:solidFill>
                <a:latin typeface="Segoe UI Semibold" panose="020B0702040204020203" pitchFamily="34" charset="0"/>
              </a:rPr>
              <a:t>Des e-mails clairs</a:t>
            </a:r>
          </a:p>
          <a:p>
            <a:pPr>
              <a:lnSpc>
                <a:spcPct val="105000"/>
              </a:lnSpc>
            </a:pPr>
            <a:r>
              <a:rPr lang="fr-FR" sz="1250">
                <a:solidFill>
                  <a:srgbClr val="475569"/>
                </a:solidFill>
                <a:latin typeface="Segoe UI" panose="020B0502040204020203" pitchFamily="34" charset="0"/>
              </a:rPr>
              <a:t>Envoi, validation, rappel, refus, commande passée : chaque e-mail rappelle le numéro, le service, les articles, le montant et l’état des signatures.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481A52-D5A9-E8A9-CFA5-8465763CBE4C}"/>
              </a:ext>
            </a:extLst>
          </p:cNvPr>
          <p:cNvSpPr txBox="1"/>
          <p:nvPr/>
        </p:nvSpPr>
        <p:spPr>
          <a:xfrm>
            <a:off x="609600" y="31750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500">
                <a:solidFill>
                  <a:srgbClr val="0F172A"/>
                </a:solidFill>
                <a:latin typeface="Segoe UI Semibold" panose="020B0702040204020203" pitchFamily="34" charset="0"/>
              </a:rPr>
              <a:t>Un bon PDF en un clic</a:t>
            </a:r>
          </a:p>
          <a:p>
            <a:pPr>
              <a:lnSpc>
                <a:spcPct val="105000"/>
              </a:lnSpc>
            </a:pPr>
            <a:r>
              <a:rPr lang="fr-FR" sz="1250">
                <a:solidFill>
                  <a:srgbClr val="475569"/>
                </a:solidFill>
                <a:latin typeface="Segoe UI" panose="020B0502040204020203" pitchFamily="34" charset="0"/>
              </a:rPr>
              <a:t>Il remplace le formulaire Excel : détail par fournisseur, total TTC, toutes les signatures horodatées et les images jointes en annexe.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76CA25-A80A-0959-1C71-BE49A756D1A9}"/>
              </a:ext>
            </a:extLst>
          </p:cNvPr>
          <p:cNvSpPr txBox="1"/>
          <p:nvPr/>
        </p:nvSpPr>
        <p:spPr>
          <a:xfrm>
            <a:off x="609600" y="47752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500">
                <a:solidFill>
                  <a:srgbClr val="0F172A"/>
                </a:solidFill>
                <a:latin typeface="Segoe UI Semibold" panose="020B0702040204020203" pitchFamily="34" charset="0"/>
              </a:rPr>
              <a:t>Un suivi en direct</a:t>
            </a:r>
          </a:p>
          <a:p>
            <a:pPr>
              <a:lnSpc>
                <a:spcPct val="105000"/>
              </a:lnSpc>
            </a:pPr>
            <a:r>
              <a:rPr lang="fr-FR" sz="1250">
                <a:solidFill>
                  <a:srgbClr val="475569"/>
                </a:solidFill>
                <a:latin typeface="Segoe UI" panose="020B0502040204020203" pitchFamily="34" charset="0"/>
              </a:rPr>
              <a:t>Une frise indique à tout moment l’étape atteinte et les signatures manquantes.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5F2D55-F42D-0BBB-1FCC-A6C75385560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422400"/>
            <a:ext cx="3358445" cy="4445000"/>
          </a:xfrm>
          <a:prstGeom prst="roundRect">
            <a:avLst>
              <a:gd name="adj" fmla="val 3500"/>
            </a:avLst>
          </a:prstGeom>
          <a:ln w="9525">
            <a:solidFill>
              <a:srgbClr val="E2E6F0"/>
            </a:solidFill>
          </a:ln>
          <a:effectLst>
            <a:outerShdw blurRad="381000" dist="127000" dir="5400000" rotWithShape="0">
              <a:srgbClr val="1E1B4B">
                <a:alpha val="2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D5FE61-F40B-652E-6C20-1BD48EC1273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422400"/>
            <a:ext cx="3367424" cy="4445000"/>
          </a:xfrm>
          <a:prstGeom prst="roundRect">
            <a:avLst>
              <a:gd name="adj" fmla="val 3500"/>
            </a:avLst>
          </a:prstGeom>
          <a:ln w="9525">
            <a:solidFill>
              <a:srgbClr val="E2E6F0"/>
            </a:solidFill>
          </a:ln>
          <a:effectLst>
            <a:outerShdw blurRad="381000" dist="127000" dir="5400000" rotWithShape="0">
              <a:srgbClr val="1E1B4B">
                <a:alpha val="2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0FB8C7-1D5D-EBD9-38F8-E3D8A7E1D729}"/>
              </a:ext>
            </a:extLst>
          </p:cNvPr>
          <p:cNvSpPr txBox="1"/>
          <p:nvPr/>
        </p:nvSpPr>
        <p:spPr>
          <a:xfrm>
            <a:off x="4724400" y="6019800"/>
            <a:ext cx="335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100">
                <a:solidFill>
                  <a:srgbClr val="94A3B8"/>
                </a:solidFill>
                <a:latin typeface="Segoe UI" panose="020B0502040204020203" pitchFamily="34" charset="0"/>
              </a:rPr>
              <a:t>E-mail « à valider »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24EB3E-30D0-24F3-1D8C-B8881A88BAD1}"/>
              </a:ext>
            </a:extLst>
          </p:cNvPr>
          <p:cNvSpPr txBox="1"/>
          <p:nvPr/>
        </p:nvSpPr>
        <p:spPr>
          <a:xfrm>
            <a:off x="8229600" y="6019800"/>
            <a:ext cx="335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100">
                <a:solidFill>
                  <a:srgbClr val="94A3B8"/>
                </a:solidFill>
                <a:latin typeface="Segoe UI" panose="020B0502040204020203" pitchFamily="34" charset="0"/>
              </a:rPr>
              <a:t>Bon de demande d’achat PDF</a:t>
            </a:r>
          </a:p>
        </p:txBody>
      </p:sp>
    </p:spTree>
    <p:extLst>
      <p:ext uri="{BB962C8B-B14F-4D97-AF65-F5344CB8AC3E}">
        <p14:creationId xmlns:p14="http://schemas.microsoft.com/office/powerpoint/2010/main" val="367664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D05E8D-BA99-6C8F-1A8D-D8A520D7C6E1}"/>
              </a:ext>
            </a:extLst>
          </p:cNvPr>
          <p:cNvSpPr txBox="1"/>
          <p:nvPr/>
        </p:nvSpPr>
        <p:spPr>
          <a:xfrm>
            <a:off x="6096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100" spc="150">
                <a:solidFill>
                  <a:srgbClr val="4F46E5"/>
                </a:solidFill>
                <a:latin typeface="Segoe UI Semibold" panose="020B0702040204020203" pitchFamily="34" charset="0"/>
              </a:rPr>
              <a:t>POUR LA DIRECTION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EBD56A-F6EA-2E46-E63C-9D0DA4231651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3000">
                <a:solidFill>
                  <a:srgbClr val="0F172A"/>
                </a:solidFill>
                <a:latin typeface="Segoe UI Semibold" panose="020B0702040204020203" pitchFamily="34" charset="0"/>
              </a:rPr>
              <a:t>Un meilleur contrôle des dépenses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529BA1-12CA-7D3B-C939-B09F3AC3820F}"/>
              </a:ext>
            </a:extLst>
          </p:cNvPr>
          <p:cNvSpPr/>
          <p:nvPr/>
        </p:nvSpPr>
        <p:spPr>
          <a:xfrm>
            <a:off x="609600" y="1498600"/>
            <a:ext cx="5384800" cy="1905000"/>
          </a:xfrm>
          <a:prstGeom prst="roundRect">
            <a:avLst>
              <a:gd name="adj" fmla="val 9333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E3D6A0-3444-22F1-43CB-BBCE1F34847F}"/>
              </a:ext>
            </a:extLst>
          </p:cNvPr>
          <p:cNvSpPr/>
          <p:nvPr/>
        </p:nvSpPr>
        <p:spPr>
          <a:xfrm>
            <a:off x="863600" y="1778000"/>
            <a:ext cx="660400" cy="660400"/>
          </a:xfrm>
          <a:prstGeom prst="ellipse">
            <a:avLst/>
          </a:prstGeom>
          <a:solidFill>
            <a:srgbClr val="FDF3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300">
                <a:latin typeface="🛡️"/>
              </a:rPr>
              <a:t>🛡️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BA9393-2E70-3021-A5D7-B9609CA067BF}"/>
              </a:ext>
            </a:extLst>
          </p:cNvPr>
          <p:cNvSpPr txBox="1"/>
          <p:nvPr/>
        </p:nvSpPr>
        <p:spPr>
          <a:xfrm>
            <a:off x="1752600" y="18034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600">
                <a:solidFill>
                  <a:srgbClr val="0F172A"/>
                </a:solidFill>
                <a:latin typeface="Segoe UI Semibold" panose="020B0702040204020203" pitchFamily="34" charset="0"/>
              </a:rPr>
              <a:t>Double validation systématique</a:t>
            </a:r>
          </a:p>
          <a:p>
            <a:pPr>
              <a:lnSpc>
                <a:spcPct val="105000"/>
              </a:lnSpc>
            </a:pPr>
            <a:r>
              <a:rPr lang="fr-FR" sz="1250">
                <a:solidFill>
                  <a:srgbClr val="475569"/>
                </a:solidFill>
                <a:latin typeface="Segoe UI" panose="020B0502040204020203" pitchFamily="34" charset="0"/>
              </a:rPr>
              <a:t>Comptabilité et chef d’établissement valident chaque commande, après le responsable du service.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BDF420-CCB6-8E6B-99F0-50E5694CF499}"/>
              </a:ext>
            </a:extLst>
          </p:cNvPr>
          <p:cNvSpPr/>
          <p:nvPr/>
        </p:nvSpPr>
        <p:spPr>
          <a:xfrm>
            <a:off x="6197600" y="1498600"/>
            <a:ext cx="5384800" cy="1905000"/>
          </a:xfrm>
          <a:prstGeom prst="roundRect">
            <a:avLst>
              <a:gd name="adj" fmla="val 9333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4B172C8-6760-0115-3904-1F1174237F34}"/>
              </a:ext>
            </a:extLst>
          </p:cNvPr>
          <p:cNvSpPr/>
          <p:nvPr/>
        </p:nvSpPr>
        <p:spPr>
          <a:xfrm>
            <a:off x="6451600" y="1778000"/>
            <a:ext cx="660400" cy="660400"/>
          </a:xfrm>
          <a:prstGeom prst="ellipse">
            <a:avLst/>
          </a:prstGeom>
          <a:solidFill>
            <a:srgbClr val="EEF0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300">
                <a:latin typeface="🧾"/>
              </a:rPr>
              <a:t>🧾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68B319-1C7C-03C1-1604-07B0C70286DD}"/>
              </a:ext>
            </a:extLst>
          </p:cNvPr>
          <p:cNvSpPr txBox="1"/>
          <p:nvPr/>
        </p:nvSpPr>
        <p:spPr>
          <a:xfrm>
            <a:off x="7340600" y="18034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600">
                <a:solidFill>
                  <a:srgbClr val="0F172A"/>
                </a:solidFill>
                <a:latin typeface="Segoe UI Semibold" panose="020B0702040204020203" pitchFamily="34" charset="0"/>
              </a:rPr>
              <a:t>Traçabilité complète</a:t>
            </a:r>
          </a:p>
          <a:p>
            <a:pPr>
              <a:lnSpc>
                <a:spcPct val="105000"/>
              </a:lnSpc>
            </a:pPr>
            <a:r>
              <a:rPr lang="fr-FR" sz="1250">
                <a:solidFill>
                  <a:srgbClr val="475569"/>
                </a:solidFill>
                <a:latin typeface="Segoe UI" panose="020B0502040204020203" pitchFamily="34" charset="0"/>
              </a:rPr>
              <a:t>Chaque action est horodatée avec son auteur et son commentaire ; l’historique ne se modifie pas depuis l’application.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BAC138-8E61-6626-8A15-EB447EBDD6C0}"/>
              </a:ext>
            </a:extLst>
          </p:cNvPr>
          <p:cNvSpPr/>
          <p:nvPr/>
        </p:nvSpPr>
        <p:spPr>
          <a:xfrm>
            <a:off x="609600" y="3606800"/>
            <a:ext cx="5384800" cy="1905000"/>
          </a:xfrm>
          <a:prstGeom prst="roundRect">
            <a:avLst>
              <a:gd name="adj" fmla="val 9333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89E6BE-0195-10F3-AEF0-CA1BD936A754}"/>
              </a:ext>
            </a:extLst>
          </p:cNvPr>
          <p:cNvSpPr/>
          <p:nvPr/>
        </p:nvSpPr>
        <p:spPr>
          <a:xfrm>
            <a:off x="863600" y="3886200"/>
            <a:ext cx="660400" cy="660400"/>
          </a:xfrm>
          <a:prstGeom prst="ellipse">
            <a:avLst/>
          </a:prstGeom>
          <a:solidFill>
            <a:srgbClr val="E7F7E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300">
                <a:latin typeface="📦"/>
              </a:rPr>
              <a:t>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A7D786-0F6B-2E12-B42C-6A0B588C6DF1}"/>
              </a:ext>
            </a:extLst>
          </p:cNvPr>
          <p:cNvSpPr txBox="1"/>
          <p:nvPr/>
        </p:nvSpPr>
        <p:spPr>
          <a:xfrm>
            <a:off x="1752600" y="39116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600">
                <a:solidFill>
                  <a:srgbClr val="0F172A"/>
                </a:solidFill>
                <a:latin typeface="Segoe UI Semibold" panose="020B0702040204020203" pitchFamily="34" charset="0"/>
              </a:rPr>
              <a:t>Exécution maîtrisée</a:t>
            </a:r>
          </a:p>
          <a:p>
            <a:pPr>
              <a:lnSpc>
                <a:spcPct val="105000"/>
              </a:lnSpc>
            </a:pPr>
            <a:r>
              <a:rPr lang="fr-FR" sz="1250">
                <a:solidFill>
                  <a:srgbClr val="475569"/>
                </a:solidFill>
                <a:latin typeface="Segoe UI" panose="020B0502040204020203" pitchFamily="34" charset="0"/>
              </a:rPr>
              <a:t>Chaque fournisseur a un exécuteur attitré ; à défaut, la comptabilité passe la commande.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238F7E-CCE8-A788-5CDE-F170E043373B}"/>
              </a:ext>
            </a:extLst>
          </p:cNvPr>
          <p:cNvSpPr/>
          <p:nvPr/>
        </p:nvSpPr>
        <p:spPr>
          <a:xfrm>
            <a:off x="6197600" y="3606800"/>
            <a:ext cx="5384800" cy="1905000"/>
          </a:xfrm>
          <a:prstGeom prst="roundRect">
            <a:avLst>
              <a:gd name="adj" fmla="val 9333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FE9C1AF-596B-7315-79D8-E57A528E294D}"/>
              </a:ext>
            </a:extLst>
          </p:cNvPr>
          <p:cNvSpPr/>
          <p:nvPr/>
        </p:nvSpPr>
        <p:spPr>
          <a:xfrm>
            <a:off x="6451600" y="3886200"/>
            <a:ext cx="660400" cy="660400"/>
          </a:xfrm>
          <a:prstGeom prst="ellipse">
            <a:avLst/>
          </a:prstGeom>
          <a:solidFill>
            <a:srgbClr val="E8F0F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300">
                <a:latin typeface="📊"/>
              </a:rPr>
              <a:t>📊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3151EB-DA29-2FC8-E9FE-983BFA1B1172}"/>
              </a:ext>
            </a:extLst>
          </p:cNvPr>
          <p:cNvSpPr txBox="1"/>
          <p:nvPr/>
        </p:nvSpPr>
        <p:spPr>
          <a:xfrm>
            <a:off x="7340600" y="39116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600">
                <a:solidFill>
                  <a:srgbClr val="0F172A"/>
                </a:solidFill>
                <a:latin typeface="Segoe UI Semibold" panose="020B0702040204020203" pitchFamily="34" charset="0"/>
              </a:rPr>
              <a:t>Vue d’ensemble</a:t>
            </a:r>
          </a:p>
          <a:p>
            <a:pPr>
              <a:lnSpc>
                <a:spcPct val="105000"/>
              </a:lnSpc>
            </a:pPr>
            <a:r>
              <a:rPr lang="fr-FR" sz="1250">
                <a:solidFill>
                  <a:srgbClr val="475569"/>
                </a:solidFill>
                <a:latin typeface="Segoe UI" panose="020B0502040204020203" pitchFamily="34" charset="0"/>
              </a:rPr>
              <a:t>Listes triables par service, destination, date ou montant ; PDF de chaque commande.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1474EF-6135-3D02-232A-EF91C18F29E4}"/>
              </a:ext>
            </a:extLst>
          </p:cNvPr>
          <p:cNvSpPr txBox="1"/>
          <p:nvPr/>
        </p:nvSpPr>
        <p:spPr>
          <a:xfrm>
            <a:off x="609600" y="57404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200">
                <a:solidFill>
                  <a:srgbClr val="94A3B8"/>
                </a:solidFill>
                <a:latin typeface="Segoe UI" panose="020B0502040204020203" pitchFamily="34" charset="0"/>
              </a:rPr>
              <a:t>Un outil de simulation permet au service informatique de vérifier tout le circuit sans créer de vraie commande.</a:t>
            </a:r>
          </a:p>
        </p:txBody>
      </p:sp>
    </p:spTree>
    <p:extLst>
      <p:ext uri="{BB962C8B-B14F-4D97-AF65-F5344CB8AC3E}">
        <p14:creationId xmlns:p14="http://schemas.microsoft.com/office/powerpoint/2010/main" val="678271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0B8781-DDCD-E6F3-99DD-379F6FE272A2}"/>
              </a:ext>
            </a:extLst>
          </p:cNvPr>
          <p:cNvSpPr txBox="1"/>
          <p:nvPr/>
        </p:nvSpPr>
        <p:spPr>
          <a:xfrm>
            <a:off x="6096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100" spc="150">
                <a:solidFill>
                  <a:srgbClr val="4F46E5"/>
                </a:solidFill>
                <a:latin typeface="Segoe UI Semibold" panose="020B0702040204020203" pitchFamily="34" charset="0"/>
              </a:rPr>
              <a:t>SÉCURITÉ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8F9EA4-2090-0FDD-E111-FBF554746549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3000">
                <a:solidFill>
                  <a:srgbClr val="0F172A"/>
                </a:solidFill>
                <a:latin typeface="Segoe UI Semibold" panose="020B0702040204020203" pitchFamily="34" charset="0"/>
              </a:rPr>
              <a:t>Sécurité et confidentialité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14CD7E7-C19E-FF61-08C3-088902E7318D}"/>
              </a:ext>
            </a:extLst>
          </p:cNvPr>
          <p:cNvSpPr/>
          <p:nvPr/>
        </p:nvSpPr>
        <p:spPr>
          <a:xfrm>
            <a:off x="609600" y="1498600"/>
            <a:ext cx="584200" cy="584200"/>
          </a:xfrm>
          <a:prstGeom prst="ellipse">
            <a:avLst/>
          </a:prstGeom>
          <a:solidFill>
            <a:srgbClr val="EEF0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100">
                <a:latin typeface="🔐"/>
              </a:rPr>
              <a:t>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6F0E3-0A9B-FCA7-F6B5-AAA4B1C17E64}"/>
              </a:ext>
            </a:extLst>
          </p:cNvPr>
          <p:cNvSpPr txBox="1"/>
          <p:nvPr/>
        </p:nvSpPr>
        <p:spPr>
          <a:xfrm>
            <a:off x="1397000" y="15113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500">
                <a:solidFill>
                  <a:srgbClr val="0F172A"/>
                </a:solidFill>
                <a:latin typeface="Segoe UI Semibold" panose="020B0702040204020203" pitchFamily="34" charset="0"/>
              </a:rPr>
              <a:t>Connexion Microsoft du lycée</a:t>
            </a:r>
          </a:p>
          <a:p>
            <a:pPr>
              <a:lnSpc>
                <a:spcPct val="105000"/>
              </a:lnSpc>
            </a:pPr>
            <a:r>
              <a:rPr lang="fr-FR" sz="1250">
                <a:solidFill>
                  <a:srgbClr val="475569"/>
                </a:solidFill>
                <a:latin typeface="Segoe UI" panose="020B0502040204020203" pitchFamily="34" charset="0"/>
              </a:rPr>
              <a:t>Aucun mot de passe supplémentaire, aucun mot de passe stocké par l’application.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C0DC2C1-C1AB-B42E-1FF9-F0A17E06B9A2}"/>
              </a:ext>
            </a:extLst>
          </p:cNvPr>
          <p:cNvSpPr/>
          <p:nvPr/>
        </p:nvSpPr>
        <p:spPr>
          <a:xfrm>
            <a:off x="609600" y="2565400"/>
            <a:ext cx="584200" cy="584200"/>
          </a:xfrm>
          <a:prstGeom prst="ellipse">
            <a:avLst/>
          </a:prstGeom>
          <a:solidFill>
            <a:srgbClr val="FDECE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100">
                <a:latin typeface="🚫"/>
              </a:rPr>
              <a:t>🚫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FE4997-F0DE-0655-181E-39887D078A2E}"/>
              </a:ext>
            </a:extLst>
          </p:cNvPr>
          <p:cNvSpPr txBox="1"/>
          <p:nvPr/>
        </p:nvSpPr>
        <p:spPr>
          <a:xfrm>
            <a:off x="1397000" y="25781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500">
                <a:solidFill>
                  <a:srgbClr val="0F172A"/>
                </a:solidFill>
                <a:latin typeface="Segoe UI Semibold" panose="020B0702040204020203" pitchFamily="34" charset="0"/>
              </a:rPr>
              <a:t>Élèves exclus automatiquement</a:t>
            </a:r>
          </a:p>
          <a:p>
            <a:pPr>
              <a:lnSpc>
                <a:spcPct val="105000"/>
              </a:lnSpc>
            </a:pPr>
            <a:r>
              <a:rPr lang="fr-FR" sz="1250">
                <a:solidFill>
                  <a:srgbClr val="475569"/>
                </a:solidFill>
                <a:latin typeface="Segoe UI" panose="020B0502040204020203" pitchFamily="34" charset="0"/>
              </a:rPr>
              <a:t>Les membres du groupe GP_eleves sont refusés avant même la création d’un compte.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0B6783B-6BBD-6402-50E5-B71E87A473B7}"/>
              </a:ext>
            </a:extLst>
          </p:cNvPr>
          <p:cNvSpPr/>
          <p:nvPr/>
        </p:nvSpPr>
        <p:spPr>
          <a:xfrm>
            <a:off x="609600" y="3632200"/>
            <a:ext cx="584200" cy="584200"/>
          </a:xfrm>
          <a:prstGeom prst="ellipse">
            <a:avLst/>
          </a:prstGeom>
          <a:solidFill>
            <a:srgbClr val="E8F0F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100">
                <a:latin typeface="🧭"/>
              </a:rPr>
              <a:t>🧭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2767BF-01E3-09B8-E333-A476790ECBAA}"/>
              </a:ext>
            </a:extLst>
          </p:cNvPr>
          <p:cNvSpPr txBox="1"/>
          <p:nvPr/>
        </p:nvSpPr>
        <p:spPr>
          <a:xfrm>
            <a:off x="1397000" y="36449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500">
                <a:solidFill>
                  <a:srgbClr val="0F172A"/>
                </a:solidFill>
                <a:latin typeface="Segoe UI Semibold" panose="020B0702040204020203" pitchFamily="34" charset="0"/>
              </a:rPr>
              <a:t>Chacun voit ce qui le concerne</a:t>
            </a:r>
          </a:p>
          <a:p>
            <a:pPr>
              <a:lnSpc>
                <a:spcPct val="105000"/>
              </a:lnSpc>
            </a:pPr>
            <a:r>
              <a:rPr lang="fr-FR" sz="1250">
                <a:solidFill>
                  <a:srgbClr val="475569"/>
                </a:solidFill>
                <a:latin typeface="Segoe UI" panose="020B0502040204020203" pitchFamily="34" charset="0"/>
              </a:rPr>
              <a:t>Brouillons privés ; lecteurs et exécuteurs ne voient que les commandes validées.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43A849C-D3BB-9F04-6AF1-32A9C862D90D}"/>
              </a:ext>
            </a:extLst>
          </p:cNvPr>
          <p:cNvSpPr/>
          <p:nvPr/>
        </p:nvSpPr>
        <p:spPr>
          <a:xfrm>
            <a:off x="609600" y="4699000"/>
            <a:ext cx="584200" cy="584200"/>
          </a:xfrm>
          <a:prstGeom prst="ellipse">
            <a:avLst/>
          </a:prstGeom>
          <a:solidFill>
            <a:srgbClr val="E4F6F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100">
                <a:latin typeface="🗄️"/>
              </a:rPr>
              <a:t>🗄️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E4FB61-FCBA-7910-23B4-F49AD01AE1E3}"/>
              </a:ext>
            </a:extLst>
          </p:cNvPr>
          <p:cNvSpPr txBox="1"/>
          <p:nvPr/>
        </p:nvSpPr>
        <p:spPr>
          <a:xfrm>
            <a:off x="1397000" y="47117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500">
                <a:solidFill>
                  <a:srgbClr val="0F172A"/>
                </a:solidFill>
                <a:latin typeface="Segoe UI Semibold" panose="020B0702040204020203" pitchFamily="34" charset="0"/>
              </a:rPr>
              <a:t>Données maîtrisées</a:t>
            </a:r>
          </a:p>
          <a:p>
            <a:pPr>
              <a:lnSpc>
                <a:spcPct val="105000"/>
              </a:lnSpc>
            </a:pPr>
            <a:r>
              <a:rPr lang="fr-FR" sz="1250">
                <a:solidFill>
                  <a:srgbClr val="475569"/>
                </a:solidFill>
                <a:latin typeface="Segoe UI" panose="020B0502040204020203" pitchFamily="34" charset="0"/>
              </a:rPr>
              <a:t>Base de données du site du lycée, chez son hébergeur habituel ; pièces jointes accessibles après connexion.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34C9FE6-5CDB-6E20-8A35-3ADBD3D54001}"/>
              </a:ext>
            </a:extLst>
          </p:cNvPr>
          <p:cNvSpPr/>
          <p:nvPr/>
        </p:nvSpPr>
        <p:spPr>
          <a:xfrm>
            <a:off x="7620000" y="1498600"/>
            <a:ext cx="3962400" cy="4191000"/>
          </a:xfrm>
          <a:prstGeom prst="roundRect">
            <a:avLst>
              <a:gd name="adj" fmla="val 4487"/>
            </a:avLst>
          </a:prstGeom>
          <a:solidFill>
            <a:srgbClr val="1E1B4B"/>
          </a:solidFill>
          <a:ln w="19050" cap="flat" cmpd="sng" algn="ctr">
            <a:noFill/>
            <a:prstDash val="solid"/>
            <a:miter lim="800000"/>
          </a:ln>
          <a:effectLst>
            <a:outerShdw blurRad="228600" dist="76200" dir="5400000" rotWithShape="0">
              <a:srgbClr val="1E1B4B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BDC027-C21A-DA53-206C-E56FCFDBC64D}"/>
              </a:ext>
            </a:extLst>
          </p:cNvPr>
          <p:cNvSpPr txBox="1"/>
          <p:nvPr/>
        </p:nvSpPr>
        <p:spPr>
          <a:xfrm>
            <a:off x="7620000" y="19050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4000">
                <a:solidFill>
                  <a:srgbClr val="FFFFFF"/>
                </a:solidFill>
                <a:latin typeface="Segoe UI Emoji" panose="020B0502040204020203" pitchFamily="34" charset="0"/>
              </a:rPr>
              <a:t>🛡️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6974A3-7737-0DBD-B6AE-CA3AF5F88820}"/>
              </a:ext>
            </a:extLst>
          </p:cNvPr>
          <p:cNvSpPr txBox="1"/>
          <p:nvPr/>
        </p:nvSpPr>
        <p:spPr>
          <a:xfrm>
            <a:off x="7924800" y="2870200"/>
            <a:ext cx="335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2200">
                <a:solidFill>
                  <a:srgbClr val="FFFFFF"/>
                </a:solidFill>
                <a:latin typeface="Segoe UI Semibold" panose="020B0702040204020203" pitchFamily="34" charset="0"/>
              </a:rPr>
              <a:t>Accès réservé au personnel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2FAE7A-8060-7599-091E-F4A04527D01A}"/>
              </a:ext>
            </a:extLst>
          </p:cNvPr>
          <p:cNvSpPr txBox="1"/>
          <p:nvPr/>
        </p:nvSpPr>
        <p:spPr>
          <a:xfrm>
            <a:off x="7975600" y="38100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300">
                <a:solidFill>
                  <a:srgbClr val="C7D2FE"/>
                </a:solidFill>
                <a:latin typeface="Segoe UI" panose="020B0502040204020203" pitchFamily="34" charset="0"/>
              </a:rPr>
              <a:t>Seuls les comptes @st-marc.eu autorisés peuvent se connecter. Les droits de chacun sont gérés par le service informatique.</a:t>
            </a:r>
          </a:p>
        </p:txBody>
      </p:sp>
    </p:spTree>
    <p:extLst>
      <p:ext uri="{BB962C8B-B14F-4D97-AF65-F5344CB8AC3E}">
        <p14:creationId xmlns:p14="http://schemas.microsoft.com/office/powerpoint/2010/main" val="487389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C9B33A-0609-E428-B3B6-062BE077AAF3}"/>
              </a:ext>
            </a:extLst>
          </p:cNvPr>
          <p:cNvSpPr txBox="1"/>
          <p:nvPr/>
        </p:nvSpPr>
        <p:spPr>
          <a:xfrm>
            <a:off x="6096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100" spc="150">
                <a:solidFill>
                  <a:srgbClr val="4F46E5"/>
                </a:solidFill>
                <a:latin typeface="Segoe UI Semibold" panose="020B0702040204020203" pitchFamily="34" charset="0"/>
              </a:rPr>
              <a:t>AU QUOTIDIEN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DC80C3-6914-80E9-D653-C4096E4DEC0E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3000">
                <a:solidFill>
                  <a:srgbClr val="0F172A"/>
                </a:solidFill>
                <a:latin typeface="Segoe UI Semibold" panose="020B0702040204020203" pitchFamily="34" charset="0"/>
              </a:rPr>
              <a:t>Ce qui change pour chacun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8D85E4-AFCA-4201-CE7C-93EAADAAF188}"/>
              </a:ext>
            </a:extLst>
          </p:cNvPr>
          <p:cNvSpPr/>
          <p:nvPr/>
        </p:nvSpPr>
        <p:spPr>
          <a:xfrm>
            <a:off x="609600" y="1498600"/>
            <a:ext cx="3517900" cy="4064000"/>
          </a:xfrm>
          <a:prstGeom prst="roundRect">
            <a:avLst>
              <a:gd name="adj" fmla="val 5054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E08BB1E-C36D-ED0A-41DF-0FAEAB28B7A2}"/>
              </a:ext>
            </a:extLst>
          </p:cNvPr>
          <p:cNvSpPr/>
          <p:nvPr/>
        </p:nvSpPr>
        <p:spPr>
          <a:xfrm>
            <a:off x="863600" y="1752600"/>
            <a:ext cx="635000" cy="635000"/>
          </a:xfrm>
          <a:prstGeom prst="ellipse">
            <a:avLst/>
          </a:prstGeom>
          <a:solidFill>
            <a:srgbClr val="EEF0F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200">
                <a:latin typeface="✍️"/>
              </a:rPr>
              <a:t>✍️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E808A-6080-FA2D-DBB3-84A53408FD54}"/>
              </a:ext>
            </a:extLst>
          </p:cNvPr>
          <p:cNvSpPr txBox="1"/>
          <p:nvPr/>
        </p:nvSpPr>
        <p:spPr>
          <a:xfrm>
            <a:off x="863600" y="2565400"/>
            <a:ext cx="3009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700">
                <a:solidFill>
                  <a:srgbClr val="0F172A"/>
                </a:solidFill>
                <a:latin typeface="Segoe UI Semibold" panose="020B0702040204020203" pitchFamily="34" charset="0"/>
              </a:rPr>
              <a:t>Pour les demandeurs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40FED4-8F00-9CAB-11EB-6D96C9FA44CF}"/>
              </a:ext>
            </a:extLst>
          </p:cNvPr>
          <p:cNvSpPr txBox="1"/>
          <p:nvPr/>
        </p:nvSpPr>
        <p:spPr>
          <a:xfrm>
            <a:off x="863600" y="3098800"/>
            <a:ext cx="3009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Clr>
                <a:srgbClr val="4F46E5"/>
              </a:buClr>
              <a:buFont typeface="+mj-lt"/>
              <a:buChar char="•"/>
            </a:pPr>
            <a:r>
              <a:rPr lang="fr-FR" sz="1300">
                <a:solidFill>
                  <a:srgbClr val="475569"/>
                </a:solidFill>
                <a:latin typeface="Segoe UI" panose="020B0502040204020203" pitchFamily="34" charset="0"/>
              </a:rPr>
              <a:t>Une demande en quelques minutes, depuis n’importe où</a:t>
            </a: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Clr>
                <a:srgbClr val="4F46E5"/>
              </a:buClr>
              <a:buFont typeface="+mj-lt"/>
              <a:buChar char="•"/>
            </a:pPr>
            <a:r>
              <a:rPr lang="fr-FR" sz="1300">
                <a:solidFill>
                  <a:srgbClr val="475569"/>
                </a:solidFill>
                <a:latin typeface="Segoe UI" panose="020B0502040204020203" pitchFamily="34" charset="0"/>
              </a:rPr>
              <a:t>Plus de signatures à courir chercher</a:t>
            </a: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Clr>
                <a:srgbClr val="4F46E5"/>
              </a:buClr>
              <a:buFont typeface="+mj-lt"/>
              <a:buChar char="•"/>
            </a:pPr>
            <a:r>
              <a:rPr lang="fr-FR" sz="1300">
                <a:solidFill>
                  <a:srgbClr val="475569"/>
                </a:solidFill>
                <a:latin typeface="Segoe UI" panose="020B0502040204020203" pitchFamily="34" charset="0"/>
              </a:rPr>
              <a:t>Un e-mail à chaque étape, plus de relances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09E53A-4270-F761-EBAF-03D666DC376A}"/>
              </a:ext>
            </a:extLst>
          </p:cNvPr>
          <p:cNvSpPr/>
          <p:nvPr/>
        </p:nvSpPr>
        <p:spPr>
          <a:xfrm>
            <a:off x="4330700" y="1498600"/>
            <a:ext cx="3517900" cy="4064000"/>
          </a:xfrm>
          <a:prstGeom prst="roundRect">
            <a:avLst>
              <a:gd name="adj" fmla="val 5054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C44E64-0C8D-2FDD-EA4C-59EEF415A662}"/>
              </a:ext>
            </a:extLst>
          </p:cNvPr>
          <p:cNvSpPr/>
          <p:nvPr/>
        </p:nvSpPr>
        <p:spPr>
          <a:xfrm>
            <a:off x="4584700" y="1752600"/>
            <a:ext cx="635000" cy="635000"/>
          </a:xfrm>
          <a:prstGeom prst="ellipse">
            <a:avLst/>
          </a:prstGeom>
          <a:solidFill>
            <a:srgbClr val="E7F7E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200">
                <a:latin typeface="✅"/>
              </a:rPr>
              <a:t>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E4397A-FC3E-C16A-B2EE-982077D51F6F}"/>
              </a:ext>
            </a:extLst>
          </p:cNvPr>
          <p:cNvSpPr txBox="1"/>
          <p:nvPr/>
        </p:nvSpPr>
        <p:spPr>
          <a:xfrm>
            <a:off x="4584700" y="2565400"/>
            <a:ext cx="3009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700">
                <a:solidFill>
                  <a:srgbClr val="0F172A"/>
                </a:solidFill>
                <a:latin typeface="Segoe UI Semibold" panose="020B0702040204020203" pitchFamily="34" charset="0"/>
              </a:rPr>
              <a:t>Pour les validateurs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5C79E-9307-52C3-FA10-D25CDBE31023}"/>
              </a:ext>
            </a:extLst>
          </p:cNvPr>
          <p:cNvSpPr txBox="1"/>
          <p:nvPr/>
        </p:nvSpPr>
        <p:spPr>
          <a:xfrm>
            <a:off x="4584700" y="3098800"/>
            <a:ext cx="3009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Clr>
                <a:srgbClr val="15803D"/>
              </a:buClr>
              <a:buFont typeface="+mj-lt"/>
              <a:buChar char="•"/>
            </a:pPr>
            <a:r>
              <a:rPr lang="fr-FR" sz="1300">
                <a:solidFill>
                  <a:srgbClr val="475569"/>
                </a:solidFill>
                <a:latin typeface="Segoe UI" panose="020B0502040204020203" pitchFamily="34" charset="0"/>
              </a:rPr>
              <a:t>Un e-mail avec un bouton, validation en deux clics</a:t>
            </a: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Clr>
                <a:srgbClr val="15803D"/>
              </a:buClr>
              <a:buFont typeface="+mj-lt"/>
              <a:buChar char="•"/>
            </a:pPr>
            <a:r>
              <a:rPr lang="fr-FR" sz="1300">
                <a:solidFill>
                  <a:srgbClr val="475569"/>
                </a:solidFill>
                <a:latin typeface="Segoe UI" panose="020B0502040204020203" pitchFamily="34" charset="0"/>
              </a:rPr>
              <a:t>Toutes les pièces au même endroit</a:t>
            </a: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Clr>
                <a:srgbClr val="15803D"/>
              </a:buClr>
              <a:buFont typeface="+mj-lt"/>
              <a:buChar char="•"/>
            </a:pPr>
            <a:r>
              <a:rPr lang="fr-FR" sz="1300">
                <a:solidFill>
                  <a:srgbClr val="475569"/>
                </a:solidFill>
                <a:latin typeface="Segoe UI" panose="020B0502040204020203" pitchFamily="34" charset="0"/>
              </a:rPr>
              <a:t>Un rappel automatique si une signature manque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FB4BA06-6E68-8A18-F921-1BFC33D452FD}"/>
              </a:ext>
            </a:extLst>
          </p:cNvPr>
          <p:cNvSpPr/>
          <p:nvPr/>
        </p:nvSpPr>
        <p:spPr>
          <a:xfrm>
            <a:off x="8051800" y="1498600"/>
            <a:ext cx="3517900" cy="4064000"/>
          </a:xfrm>
          <a:prstGeom prst="roundRect">
            <a:avLst>
              <a:gd name="adj" fmla="val 5054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A74047E-8CC5-BBDA-5A2E-AFA67C87997A}"/>
              </a:ext>
            </a:extLst>
          </p:cNvPr>
          <p:cNvSpPr/>
          <p:nvPr/>
        </p:nvSpPr>
        <p:spPr>
          <a:xfrm>
            <a:off x="8305800" y="1752600"/>
            <a:ext cx="635000" cy="635000"/>
          </a:xfrm>
          <a:prstGeom prst="ellipse">
            <a:avLst/>
          </a:prstGeom>
          <a:solidFill>
            <a:srgbClr val="FDF3E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200">
                <a:latin typeface="🏛️"/>
              </a:rPr>
              <a:t>🏛️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2E4022-206E-77B4-DFD6-3F9E3082087F}"/>
              </a:ext>
            </a:extLst>
          </p:cNvPr>
          <p:cNvSpPr txBox="1"/>
          <p:nvPr/>
        </p:nvSpPr>
        <p:spPr>
          <a:xfrm>
            <a:off x="8305800" y="2565400"/>
            <a:ext cx="3009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700">
                <a:solidFill>
                  <a:srgbClr val="0F172A"/>
                </a:solidFill>
                <a:latin typeface="Segoe UI Semibold" panose="020B0702040204020203" pitchFamily="34" charset="0"/>
              </a:rPr>
              <a:t>Pour la direction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EC7DD0-3C1B-D194-FC5F-61D39AA9F41D}"/>
              </a:ext>
            </a:extLst>
          </p:cNvPr>
          <p:cNvSpPr txBox="1"/>
          <p:nvPr/>
        </p:nvSpPr>
        <p:spPr>
          <a:xfrm>
            <a:off x="8305800" y="3098800"/>
            <a:ext cx="30099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Clr>
                <a:srgbClr val="B45309"/>
              </a:buClr>
              <a:buFont typeface="+mj-lt"/>
              <a:buChar char="•"/>
            </a:pPr>
            <a:r>
              <a:rPr lang="fr-FR" sz="1300">
                <a:solidFill>
                  <a:srgbClr val="475569"/>
                </a:solidFill>
                <a:latin typeface="Segoe UI" panose="020B0502040204020203" pitchFamily="34" charset="0"/>
              </a:rPr>
              <a:t>Double validation garantie sur chaque commande</a:t>
            </a: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Clr>
                <a:srgbClr val="B45309"/>
              </a:buClr>
              <a:buFont typeface="+mj-lt"/>
              <a:buChar char="•"/>
            </a:pPr>
            <a:r>
              <a:rPr lang="fr-FR" sz="1300">
                <a:solidFill>
                  <a:srgbClr val="475569"/>
                </a:solidFill>
                <a:latin typeface="Segoe UI" panose="020B0502040204020203" pitchFamily="34" charset="0"/>
              </a:rPr>
              <a:t>Historique et PDF de chaque commande</a:t>
            </a: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Clr>
                <a:srgbClr val="B45309"/>
              </a:buClr>
              <a:buFont typeface="+mj-lt"/>
              <a:buChar char="•"/>
            </a:pPr>
            <a:r>
              <a:rPr lang="fr-FR" sz="1300">
                <a:solidFill>
                  <a:srgbClr val="475569"/>
                </a:solidFill>
                <a:latin typeface="Segoe UI" panose="020B0502040204020203" pitchFamily="34" charset="0"/>
              </a:rPr>
              <a:t>Vision par service, lieu et montant</a:t>
            </a:r>
          </a:p>
        </p:txBody>
      </p:sp>
    </p:spTree>
    <p:extLst>
      <p:ext uri="{BB962C8B-B14F-4D97-AF65-F5344CB8AC3E}">
        <p14:creationId xmlns:p14="http://schemas.microsoft.com/office/powerpoint/2010/main" val="2809228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A19A61-F58C-7037-4036-EAEABE1E2F6E}"/>
              </a:ext>
            </a:extLst>
          </p:cNvPr>
          <p:cNvSpPr txBox="1"/>
          <p:nvPr/>
        </p:nvSpPr>
        <p:spPr>
          <a:xfrm>
            <a:off x="6096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100" spc="150">
                <a:solidFill>
                  <a:srgbClr val="4F46E5"/>
                </a:solidFill>
                <a:latin typeface="Segoe UI Semibold" panose="020B0702040204020203" pitchFamily="34" charset="0"/>
              </a:rPr>
              <a:t>MISE EN PLACE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555CB6-9C39-44F2-8630-7C1B2A047E40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3000">
                <a:solidFill>
                  <a:srgbClr val="0F172A"/>
                </a:solidFill>
                <a:latin typeface="Segoe UI Semibold" panose="020B0702040204020203" pitchFamily="34" charset="0"/>
              </a:rPr>
              <a:t>Déploiement proposé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92C109-B100-1AE6-EEC0-1304699EF5C4}"/>
              </a:ext>
            </a:extLst>
          </p:cNvPr>
          <p:cNvSpPr/>
          <p:nvPr/>
        </p:nvSpPr>
        <p:spPr>
          <a:xfrm>
            <a:off x="1219200" y="2362200"/>
            <a:ext cx="9753600" cy="38100"/>
          </a:xfrm>
          <a:prstGeom prst="rect">
            <a:avLst/>
          </a:prstGeom>
          <a:solidFill>
            <a:srgbClr val="C7D2F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AAF754C-4BA4-04F7-3F42-67DF89CB40B2}"/>
              </a:ext>
            </a:extLst>
          </p:cNvPr>
          <p:cNvSpPr/>
          <p:nvPr/>
        </p:nvSpPr>
        <p:spPr>
          <a:xfrm>
            <a:off x="1371600" y="2057400"/>
            <a:ext cx="660400" cy="660400"/>
          </a:xfrm>
          <a:prstGeom prst="ellipse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200">
                <a:solidFill>
                  <a:srgbClr val="FFFFFF"/>
                </a:solidFill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BE383F-F10A-368E-3BB8-015AB8EC8813}"/>
              </a:ext>
            </a:extLst>
          </p:cNvPr>
          <p:cNvSpPr txBox="1"/>
          <p:nvPr/>
        </p:nvSpPr>
        <p:spPr>
          <a:xfrm>
            <a:off x="609600" y="29464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600">
                <a:solidFill>
                  <a:srgbClr val="0F172A"/>
                </a:solidFill>
                <a:latin typeface="Segoe UI Semibold" panose="020B0702040204020203" pitchFamily="34" charset="0"/>
              </a:rPr>
              <a:t>Validation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F37082-313D-E056-987F-1D59A53495D0}"/>
              </a:ext>
            </a:extLst>
          </p:cNvPr>
          <p:cNvSpPr txBox="1"/>
          <p:nvPr/>
        </p:nvSpPr>
        <p:spPr>
          <a:xfrm>
            <a:off x="736600" y="33274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250">
                <a:solidFill>
                  <a:srgbClr val="475569"/>
                </a:solidFill>
                <a:latin typeface="Segoe UI" panose="020B0502040204020203" pitchFamily="34" charset="0"/>
              </a:rPr>
              <a:t>Le conseil valide le circuit et les responsables.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5B804D0-64A1-F714-5E0B-6D81B562EF18}"/>
              </a:ext>
            </a:extLst>
          </p:cNvPr>
          <p:cNvSpPr/>
          <p:nvPr/>
        </p:nvSpPr>
        <p:spPr>
          <a:xfrm>
            <a:off x="3568700" y="2057400"/>
            <a:ext cx="660400" cy="6604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200">
                <a:solidFill>
                  <a:srgbClr val="FFFFFF"/>
                </a:solidFill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DE3F0D-1888-5D8F-B95B-C72D7A94D1DC}"/>
              </a:ext>
            </a:extLst>
          </p:cNvPr>
          <p:cNvSpPr txBox="1"/>
          <p:nvPr/>
        </p:nvSpPr>
        <p:spPr>
          <a:xfrm>
            <a:off x="2806700" y="29464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600">
                <a:solidFill>
                  <a:srgbClr val="0F172A"/>
                </a:solidFill>
                <a:latin typeface="Segoe UI Semibold" panose="020B0702040204020203" pitchFamily="34" charset="0"/>
              </a:rPr>
              <a:t>Configuration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C5E0E6-853D-D8CB-7D47-58A2F96B2978}"/>
              </a:ext>
            </a:extLst>
          </p:cNvPr>
          <p:cNvSpPr txBox="1"/>
          <p:nvPr/>
        </p:nvSpPr>
        <p:spPr>
          <a:xfrm>
            <a:off x="2933700" y="33274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250">
                <a:solidFill>
                  <a:srgbClr val="475569"/>
                </a:solidFill>
                <a:latin typeface="Segoe UI" panose="020B0502040204020203" pitchFamily="34" charset="0"/>
              </a:rPr>
              <a:t>Services, rôles, fournisseurs ; test complet par simulation.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38ED0A-DF77-80F4-F872-D9CA2D00D16E}"/>
              </a:ext>
            </a:extLst>
          </p:cNvPr>
          <p:cNvSpPr/>
          <p:nvPr/>
        </p:nvSpPr>
        <p:spPr>
          <a:xfrm>
            <a:off x="5765800" y="2057400"/>
            <a:ext cx="660400" cy="6604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200">
                <a:solidFill>
                  <a:srgbClr val="FFFFFF"/>
                </a:solidFill>
                <a:latin typeface="Segoe UI Semibold" panose="020B0702040204020203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BCA5D7-8CA5-D5BE-369D-2A0CA770D491}"/>
              </a:ext>
            </a:extLst>
          </p:cNvPr>
          <p:cNvSpPr txBox="1"/>
          <p:nvPr/>
        </p:nvSpPr>
        <p:spPr>
          <a:xfrm>
            <a:off x="5003800" y="29464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600">
                <a:solidFill>
                  <a:srgbClr val="0F172A"/>
                </a:solidFill>
                <a:latin typeface="Segoe UI Semibold" panose="020B0702040204020203" pitchFamily="34" charset="0"/>
              </a:rPr>
              <a:t>Pilote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8A0C07-A14A-0D22-9DE4-4AF5D4CA5DB0}"/>
              </a:ext>
            </a:extLst>
          </p:cNvPr>
          <p:cNvSpPr txBox="1"/>
          <p:nvPr/>
        </p:nvSpPr>
        <p:spPr>
          <a:xfrm>
            <a:off x="5130800" y="33274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250">
                <a:solidFill>
                  <a:srgbClr val="475569"/>
                </a:solidFill>
                <a:latin typeface="Segoe UI" panose="020B0502040204020203" pitchFamily="34" charset="0"/>
              </a:rPr>
              <a:t>Un ou deux services pendant quelques semaines.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5F31132-06EF-9A3A-F253-A2859B40406C}"/>
              </a:ext>
            </a:extLst>
          </p:cNvPr>
          <p:cNvSpPr/>
          <p:nvPr/>
        </p:nvSpPr>
        <p:spPr>
          <a:xfrm>
            <a:off x="7962900" y="2057400"/>
            <a:ext cx="660400" cy="6604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200">
                <a:solidFill>
                  <a:srgbClr val="FFFFFF"/>
                </a:solidFill>
                <a:latin typeface="Segoe UI Semibold" panose="020B0702040204020203" pitchFamily="34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95F4BA-17E9-A7A5-3D07-F4E1382050B9}"/>
              </a:ext>
            </a:extLst>
          </p:cNvPr>
          <p:cNvSpPr txBox="1"/>
          <p:nvPr/>
        </p:nvSpPr>
        <p:spPr>
          <a:xfrm>
            <a:off x="7200900" y="29464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600">
                <a:solidFill>
                  <a:srgbClr val="0F172A"/>
                </a:solidFill>
                <a:latin typeface="Segoe UI Semibold" panose="020B0702040204020203" pitchFamily="34" charset="0"/>
              </a:rPr>
              <a:t>Généralisation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3005D5-410D-1394-B5C5-2A2C72634F51}"/>
              </a:ext>
            </a:extLst>
          </p:cNvPr>
          <p:cNvSpPr txBox="1"/>
          <p:nvPr/>
        </p:nvSpPr>
        <p:spPr>
          <a:xfrm>
            <a:off x="7327900" y="33274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250">
                <a:solidFill>
                  <a:srgbClr val="475569"/>
                </a:solidFill>
                <a:latin typeface="Segoe UI" panose="020B0502040204020203" pitchFamily="34" charset="0"/>
              </a:rPr>
              <a:t>Tout le personnel, avec le guide et une démonstration.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B2792AE-C7B3-6CDB-544E-B1F4A3D67BCB}"/>
              </a:ext>
            </a:extLst>
          </p:cNvPr>
          <p:cNvSpPr/>
          <p:nvPr/>
        </p:nvSpPr>
        <p:spPr>
          <a:xfrm>
            <a:off x="10160000" y="2057400"/>
            <a:ext cx="660400" cy="6604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200">
                <a:solidFill>
                  <a:srgbClr val="FFFFFF"/>
                </a:solidFill>
                <a:latin typeface="Segoe UI Semibold" panose="020B0702040204020203" pitchFamily="34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711C36-DCBE-31A7-F828-7F7FC5489C85}"/>
              </a:ext>
            </a:extLst>
          </p:cNvPr>
          <p:cNvSpPr txBox="1"/>
          <p:nvPr/>
        </p:nvSpPr>
        <p:spPr>
          <a:xfrm>
            <a:off x="9398000" y="29464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600">
                <a:solidFill>
                  <a:srgbClr val="0F172A"/>
                </a:solidFill>
                <a:latin typeface="Segoe UI Semibold" panose="020B0702040204020203" pitchFamily="34" charset="0"/>
              </a:rPr>
              <a:t>Fin de l’Excel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8A953B-6CDC-3119-2916-E670C0ADFEA9}"/>
              </a:ext>
            </a:extLst>
          </p:cNvPr>
          <p:cNvSpPr txBox="1"/>
          <p:nvPr/>
        </p:nvSpPr>
        <p:spPr>
          <a:xfrm>
            <a:off x="9525000" y="3327400"/>
            <a:ext cx="193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250">
                <a:solidFill>
                  <a:srgbClr val="475569"/>
                </a:solidFill>
                <a:latin typeface="Segoe UI" panose="020B0502040204020203" pitchFamily="34" charset="0"/>
              </a:rPr>
              <a:t>Toutes les nouvelles demandes passent par l’application.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41F9D73-5B57-4979-CE30-3EE61BA5363F}"/>
              </a:ext>
            </a:extLst>
          </p:cNvPr>
          <p:cNvSpPr/>
          <p:nvPr/>
        </p:nvSpPr>
        <p:spPr>
          <a:xfrm>
            <a:off x="609600" y="4724400"/>
            <a:ext cx="10972800" cy="965200"/>
          </a:xfrm>
          <a:prstGeom prst="roundRect">
            <a:avLst>
              <a:gd name="adj" fmla="val 18421"/>
            </a:avLst>
          </a:prstGeom>
          <a:solidFill>
            <a:srgbClr val="E7F7E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251837B-9EA5-1BEF-D168-19190881BF84}"/>
              </a:ext>
            </a:extLst>
          </p:cNvPr>
          <p:cNvSpPr/>
          <p:nvPr/>
        </p:nvSpPr>
        <p:spPr>
          <a:xfrm>
            <a:off x="838200" y="4902200"/>
            <a:ext cx="609600" cy="609600"/>
          </a:xfrm>
          <a:prstGeom prst="ellipse">
            <a:avLst/>
          </a:prstGeom>
          <a:solidFill>
            <a:srgbClr val="E7F7E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200">
                <a:latin typeface="🚀"/>
              </a:rPr>
              <a:t>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913BFF-D3D1-8F70-9F36-A815B39E609D}"/>
              </a:ext>
            </a:extLst>
          </p:cNvPr>
          <p:cNvSpPr txBox="1"/>
          <p:nvPr/>
        </p:nvSpPr>
        <p:spPr>
          <a:xfrm>
            <a:off x="1625600" y="4902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500">
                <a:solidFill>
                  <a:srgbClr val="15803D"/>
                </a:solidFill>
                <a:latin typeface="Segoe UI Semibold" panose="020B0702040204020203" pitchFamily="34" charset="0"/>
              </a:rPr>
              <a:t>Prêt à démarrer</a:t>
            </a:r>
          </a:p>
          <a:p>
            <a:pPr>
              <a:lnSpc>
                <a:spcPct val="105000"/>
              </a:lnSpc>
            </a:pPr>
            <a:r>
              <a:rPr lang="fr-FR" sz="1250">
                <a:solidFill>
                  <a:srgbClr val="0F172A"/>
                </a:solidFill>
                <a:latin typeface="Segoe UI" panose="020B0502040204020203" pitchFamily="34" charset="0"/>
              </a:rPr>
              <a:t>L’application, le guide utilisateur et l’outil de test sont prêts : la mise en service ne dépend plus que des décisions du conseil.</a:t>
            </a:r>
          </a:p>
        </p:txBody>
      </p:sp>
    </p:spTree>
    <p:extLst>
      <p:ext uri="{BB962C8B-B14F-4D97-AF65-F5344CB8AC3E}">
        <p14:creationId xmlns:p14="http://schemas.microsoft.com/office/powerpoint/2010/main" val="1219132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597E0B-B199-9544-B92C-F47E05EFA7F5}"/>
              </a:ext>
            </a:extLst>
          </p:cNvPr>
          <p:cNvSpPr txBox="1"/>
          <p:nvPr/>
        </p:nvSpPr>
        <p:spPr>
          <a:xfrm>
            <a:off x="609600" y="431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1100" spc="150">
                <a:solidFill>
                  <a:srgbClr val="4F46E5"/>
                </a:solidFill>
                <a:latin typeface="Segoe UI Semibold" panose="020B0702040204020203" pitchFamily="34" charset="0"/>
              </a:rPr>
              <a:t>POUR CONCLURE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761F73-2AFE-C817-A707-4DB8C096AB6A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fr-FR" sz="3000">
                <a:solidFill>
                  <a:srgbClr val="0F172A"/>
                </a:solidFill>
                <a:latin typeface="Segoe UI Semibold" panose="020B0702040204020203" pitchFamily="34" charset="0"/>
              </a:rPr>
              <a:t>Décisions attendues du conseil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7CA012-E460-F1E7-3C77-4933EA2B118B}"/>
              </a:ext>
            </a:extLst>
          </p:cNvPr>
          <p:cNvSpPr/>
          <p:nvPr/>
        </p:nvSpPr>
        <p:spPr>
          <a:xfrm>
            <a:off x="609600" y="1549400"/>
            <a:ext cx="5384800" cy="1778000"/>
          </a:xfrm>
          <a:prstGeom prst="roundRect">
            <a:avLst>
              <a:gd name="adj" fmla="val 10000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CF075C3-7EE2-22DA-D884-1BEBA2FF2B69}"/>
              </a:ext>
            </a:extLst>
          </p:cNvPr>
          <p:cNvSpPr/>
          <p:nvPr/>
        </p:nvSpPr>
        <p:spPr>
          <a:xfrm>
            <a:off x="889000" y="1879600"/>
            <a:ext cx="584200" cy="584200"/>
          </a:xfrm>
          <a:prstGeom prst="ellipse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900">
                <a:solidFill>
                  <a:srgbClr val="FFFFFF"/>
                </a:solidFill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249C88-2881-FA36-9A9A-F886C2D229B8}"/>
              </a:ext>
            </a:extLst>
          </p:cNvPr>
          <p:cNvSpPr txBox="1"/>
          <p:nvPr/>
        </p:nvSpPr>
        <p:spPr>
          <a:xfrm>
            <a:off x="1727200" y="19050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700">
                <a:solidFill>
                  <a:srgbClr val="0F172A"/>
                </a:solidFill>
                <a:latin typeface="Segoe UI Semibold" panose="020B0702040204020203" pitchFamily="34" charset="0"/>
              </a:rPr>
              <a:t>Valider le circuit</a:t>
            </a:r>
          </a:p>
          <a:p>
            <a:pPr>
              <a:lnSpc>
                <a:spcPct val="105000"/>
              </a:lnSpc>
            </a:pPr>
            <a:r>
              <a:rPr lang="fr-FR" sz="1300">
                <a:solidFill>
                  <a:srgbClr val="475569"/>
                </a:solidFill>
                <a:latin typeface="Segoe UI" panose="020B0502040204020203" pitchFamily="34" charset="0"/>
              </a:rPr>
              <a:t>Responsable de service, puis comptabilité et chef d’établissement.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C10DE8F-D8AA-647B-9B79-5237DC3D8873}"/>
              </a:ext>
            </a:extLst>
          </p:cNvPr>
          <p:cNvSpPr/>
          <p:nvPr/>
        </p:nvSpPr>
        <p:spPr>
          <a:xfrm>
            <a:off x="6197600" y="1549400"/>
            <a:ext cx="5384800" cy="1778000"/>
          </a:xfrm>
          <a:prstGeom prst="roundRect">
            <a:avLst>
              <a:gd name="adj" fmla="val 10000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35F14AE-36B9-E660-24EB-629CC2732F61}"/>
              </a:ext>
            </a:extLst>
          </p:cNvPr>
          <p:cNvSpPr/>
          <p:nvPr/>
        </p:nvSpPr>
        <p:spPr>
          <a:xfrm>
            <a:off x="6477000" y="1879600"/>
            <a:ext cx="584200" cy="584200"/>
          </a:xfrm>
          <a:prstGeom prst="ellipse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900">
                <a:solidFill>
                  <a:srgbClr val="FFFFFF"/>
                </a:solidFill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DE3521-0120-EC22-A790-5B39EA452638}"/>
              </a:ext>
            </a:extLst>
          </p:cNvPr>
          <p:cNvSpPr txBox="1"/>
          <p:nvPr/>
        </p:nvSpPr>
        <p:spPr>
          <a:xfrm>
            <a:off x="7315200" y="19050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700">
                <a:solidFill>
                  <a:srgbClr val="0F172A"/>
                </a:solidFill>
                <a:latin typeface="Segoe UI Semibold" panose="020B0702040204020203" pitchFamily="34" charset="0"/>
              </a:rPr>
              <a:t>Confirmer les responsables</a:t>
            </a:r>
          </a:p>
          <a:p>
            <a:pPr>
              <a:lnSpc>
                <a:spcPct val="105000"/>
              </a:lnSpc>
            </a:pPr>
            <a:r>
              <a:rPr lang="fr-FR" sz="1300">
                <a:solidFill>
                  <a:srgbClr val="475569"/>
                </a:solidFill>
                <a:latin typeface="Segoe UI" panose="020B0502040204020203" pitchFamily="34" charset="0"/>
              </a:rPr>
              <a:t>Désigner le ou les responsables de chaque service.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D65105-18F5-8E2E-C3AC-B5199E3AC6E1}"/>
              </a:ext>
            </a:extLst>
          </p:cNvPr>
          <p:cNvSpPr/>
          <p:nvPr/>
        </p:nvSpPr>
        <p:spPr>
          <a:xfrm>
            <a:off x="609600" y="3530600"/>
            <a:ext cx="5384800" cy="1778000"/>
          </a:xfrm>
          <a:prstGeom prst="roundRect">
            <a:avLst>
              <a:gd name="adj" fmla="val 10000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82F4A07-9213-8EE7-8BE6-BD283A692A7F}"/>
              </a:ext>
            </a:extLst>
          </p:cNvPr>
          <p:cNvSpPr/>
          <p:nvPr/>
        </p:nvSpPr>
        <p:spPr>
          <a:xfrm>
            <a:off x="889000" y="3860800"/>
            <a:ext cx="584200" cy="584200"/>
          </a:xfrm>
          <a:prstGeom prst="ellipse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900">
                <a:solidFill>
                  <a:srgbClr val="FFFFFF"/>
                </a:solidFill>
                <a:latin typeface="Segoe UI Semibold" panose="020B0702040204020203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6743B1-2AFB-D06D-6725-995F1A0C700D}"/>
              </a:ext>
            </a:extLst>
          </p:cNvPr>
          <p:cNvSpPr txBox="1"/>
          <p:nvPr/>
        </p:nvSpPr>
        <p:spPr>
          <a:xfrm>
            <a:off x="1727200" y="38862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700">
                <a:solidFill>
                  <a:srgbClr val="0F172A"/>
                </a:solidFill>
                <a:latin typeface="Segoe UI Semibold" panose="020B0702040204020203" pitchFamily="34" charset="0"/>
              </a:rPr>
              <a:t>Désigner les exécuteurs</a:t>
            </a:r>
          </a:p>
          <a:p>
            <a:pPr>
              <a:lnSpc>
                <a:spcPct val="105000"/>
              </a:lnSpc>
            </a:pPr>
            <a:r>
              <a:rPr lang="fr-FR" sz="1300">
                <a:solidFill>
                  <a:srgbClr val="475569"/>
                </a:solidFill>
                <a:latin typeface="Segoe UI" panose="020B0502040204020203" pitchFamily="34" charset="0"/>
              </a:rPr>
              <a:t>Qui passe les commandes de chaque fournisseur (ex. Amazon).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30A22B-C2C3-C7E2-38F7-9CB49FAD3917}"/>
              </a:ext>
            </a:extLst>
          </p:cNvPr>
          <p:cNvSpPr/>
          <p:nvPr/>
        </p:nvSpPr>
        <p:spPr>
          <a:xfrm>
            <a:off x="6197600" y="3530600"/>
            <a:ext cx="5384800" cy="1778000"/>
          </a:xfrm>
          <a:prstGeom prst="roundRect">
            <a:avLst>
              <a:gd name="adj" fmla="val 10000"/>
            </a:avLst>
          </a:prstGeom>
          <a:solidFill>
            <a:srgbClr val="F5F6F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EEBD125-59A5-5DF9-5892-A5F0DF4640B3}"/>
              </a:ext>
            </a:extLst>
          </p:cNvPr>
          <p:cNvSpPr/>
          <p:nvPr/>
        </p:nvSpPr>
        <p:spPr>
          <a:xfrm>
            <a:off x="6477000" y="3860800"/>
            <a:ext cx="584200" cy="584200"/>
          </a:xfrm>
          <a:prstGeom prst="ellipse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900">
                <a:solidFill>
                  <a:srgbClr val="FFFFFF"/>
                </a:solidFill>
                <a:latin typeface="Segoe UI Semibold" panose="020B0702040204020203" pitchFamily="34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335C2B-4A40-8361-9FAA-1B66746D62E7}"/>
              </a:ext>
            </a:extLst>
          </p:cNvPr>
          <p:cNvSpPr txBox="1"/>
          <p:nvPr/>
        </p:nvSpPr>
        <p:spPr>
          <a:xfrm>
            <a:off x="7315200" y="38862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fr-FR" sz="1700">
                <a:solidFill>
                  <a:srgbClr val="0F172A"/>
                </a:solidFill>
                <a:latin typeface="Segoe UI Semibold" panose="020B0702040204020203" pitchFamily="34" charset="0"/>
              </a:rPr>
              <a:t>Fixer le calendrier</a:t>
            </a:r>
          </a:p>
          <a:p>
            <a:pPr>
              <a:lnSpc>
                <a:spcPct val="105000"/>
              </a:lnSpc>
            </a:pPr>
            <a:r>
              <a:rPr lang="fr-FR" sz="1300">
                <a:solidFill>
                  <a:srgbClr val="475569"/>
                </a:solidFill>
                <a:latin typeface="Segoe UI" panose="020B0502040204020203" pitchFamily="34" charset="0"/>
              </a:rPr>
              <a:t>Services pilotes, date de généralisation et fin du formulaire Excel.</a:t>
            </a:r>
          </a:p>
        </p:txBody>
      </p:sp>
    </p:spTree>
    <p:extLst>
      <p:ext uri="{BB962C8B-B14F-4D97-AF65-F5344CB8AC3E}">
        <p14:creationId xmlns:p14="http://schemas.microsoft.com/office/powerpoint/2010/main" val="1695930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3394A49-4D42-A032-B736-6ED573C7F98B}"/>
              </a:ext>
            </a:extLst>
          </p:cNvPr>
          <p:cNvSpPr/>
          <p:nvPr/>
        </p:nvSpPr>
        <p:spPr>
          <a:xfrm>
            <a:off x="7620000" y="-2540000"/>
            <a:ext cx="7112000" cy="7112000"/>
          </a:xfrm>
          <a:prstGeom prst="ellipse">
            <a:avLst/>
          </a:prstGeom>
          <a:solidFill>
            <a:srgbClr val="8B5CF6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>
            <a:softEdge rad="1143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A157E55-A1A0-F4B7-9BC3-8B1DE421E235}"/>
              </a:ext>
            </a:extLst>
          </p:cNvPr>
          <p:cNvSpPr/>
          <p:nvPr/>
        </p:nvSpPr>
        <p:spPr>
          <a:xfrm>
            <a:off x="-2286000" y="3810000"/>
            <a:ext cx="5842000" cy="5842000"/>
          </a:xfrm>
          <a:prstGeom prst="ellipse">
            <a:avLst/>
          </a:prstGeom>
          <a:solidFill>
            <a:srgbClr val="0EA5E9">
              <a:alpha val="40000"/>
            </a:srgbClr>
          </a:solidFill>
          <a:ln w="19050" cap="flat" cmpd="sng" algn="ctr">
            <a:noFill/>
            <a:prstDash val="solid"/>
            <a:miter lim="800000"/>
          </a:ln>
          <a:effectLst>
            <a:softEdge rad="1143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54622F-4CA7-3A47-E1EC-674C180AF925}"/>
              </a:ext>
            </a:extLst>
          </p:cNvPr>
          <p:cNvSpPr txBox="1"/>
          <p:nvPr/>
        </p:nvSpPr>
        <p:spPr>
          <a:xfrm>
            <a:off x="609600" y="1905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4000">
                <a:solidFill>
                  <a:srgbClr val="FFFFFF"/>
                </a:solidFill>
                <a:latin typeface="Segoe UI Semibold" panose="020B0702040204020203" pitchFamily="34" charset="0"/>
              </a:rPr>
              <a:t>Merci de votre attention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7005A-0FA0-87B6-B1F4-F2AE5466606A}"/>
              </a:ext>
            </a:extLst>
          </p:cNvPr>
          <p:cNvSpPr txBox="1"/>
          <p:nvPr/>
        </p:nvSpPr>
        <p:spPr>
          <a:xfrm>
            <a:off x="609600" y="27178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2000">
                <a:solidFill>
                  <a:srgbClr val="C7D2FE"/>
                </a:solidFill>
                <a:latin typeface="Segoe UI" panose="020B0502040204020203" pitchFamily="34" charset="0"/>
              </a:rPr>
              <a:t>Questions et démonstration en direct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6081D4-C8BF-6A3D-0DE5-6FDE06BE21F5}"/>
              </a:ext>
            </a:extLst>
          </p:cNvPr>
          <p:cNvSpPr/>
          <p:nvPr/>
        </p:nvSpPr>
        <p:spPr>
          <a:xfrm>
            <a:off x="4191000" y="3581400"/>
            <a:ext cx="3810000" cy="558800"/>
          </a:xfrm>
          <a:prstGeom prst="roundRect">
            <a:avLst>
              <a:gd name="adj" fmla="val 31818"/>
            </a:avLst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02E8E1-69F8-0BEE-CACA-CF4172B6BFD3}"/>
              </a:ext>
            </a:extLst>
          </p:cNvPr>
          <p:cNvSpPr txBox="1"/>
          <p:nvPr/>
        </p:nvSpPr>
        <p:spPr>
          <a:xfrm>
            <a:off x="4191000" y="37211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>
                <a:solidFill>
                  <a:srgbClr val="FFFFFF"/>
                </a:solidFill>
                <a:latin typeface="Segoe UI Semibold" panose="020B0702040204020203" pitchFamily="34" charset="0"/>
              </a:rPr>
              <a:t>commandes.st-marc.eu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7C065C-1A29-9FD3-D502-793937D562D6}"/>
              </a:ext>
            </a:extLst>
          </p:cNvPr>
          <p:cNvSpPr txBox="1"/>
          <p:nvPr/>
        </p:nvSpPr>
        <p:spPr>
          <a:xfrm>
            <a:off x="609600" y="4826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fr-FR" sz="1300">
                <a:solidFill>
                  <a:srgbClr val="C7D2FE"/>
                </a:solidFill>
                <a:latin typeface="Segoe UI" panose="020B0502040204020203" pitchFamily="34" charset="0"/>
              </a:rPr>
              <a:t>Guide d’utilisation illustré disponible pour tout le personnel</a:t>
            </a:r>
          </a:p>
          <a:p>
            <a:pPr algn="ctr">
              <a:lnSpc>
                <a:spcPct val="105000"/>
              </a:lnSpc>
            </a:pPr>
            <a:r>
              <a:rPr lang="fr-FR" sz="1300">
                <a:solidFill>
                  <a:srgbClr val="C7D2FE"/>
                </a:solidFill>
                <a:latin typeface="Segoe UI" panose="020B0502040204020203" pitchFamily="34" charset="0"/>
              </a:rPr>
              <a:t>Contact : informatique@st-marc.eu</a:t>
            </a:r>
          </a:p>
        </p:txBody>
      </p:sp>
    </p:spTree>
    <p:extLst>
      <p:ext uri="{BB962C8B-B14F-4D97-AF65-F5344CB8AC3E}">
        <p14:creationId xmlns:p14="http://schemas.microsoft.com/office/powerpoint/2010/main" val="371831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1969</Words>
  <Application>Microsoft Office PowerPoint</Application>
  <PresentationFormat>Custom</PresentationFormat>
  <Paragraphs>237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45" baseType="lpstr">
      <vt:lpstr>⏳</vt:lpstr>
      <vt:lpstr>✉️</vt:lpstr>
      <vt:lpstr>✍️</vt:lpstr>
      <vt:lpstr>❓</vt:lpstr>
      <vt:lpstr>✅</vt:lpstr>
      <vt:lpstr>✋</vt:lpstr>
      <vt:lpstr>⚙️</vt:lpstr>
      <vt:lpstr>Aptos</vt:lpstr>
      <vt:lpstr>Aptos Display</vt:lpstr>
      <vt:lpstr>Arial</vt:lpstr>
      <vt:lpstr>Segoe UI</vt:lpstr>
      <vt:lpstr>Segoe UI Emoji</vt:lpstr>
      <vt:lpstr>Segoe UI Semibold</vt:lpstr>
      <vt:lpstr>🏛️</vt:lpstr>
      <vt:lpstr>👁️</vt:lpstr>
      <vt:lpstr>👤</vt:lpstr>
      <vt:lpstr>💶</vt:lpstr>
      <vt:lpstr>📄</vt:lpstr>
      <vt:lpstr>📊</vt:lpstr>
      <vt:lpstr>📦</vt:lpstr>
      <vt:lpstr>🔁</vt:lpstr>
      <vt:lpstr>🔎</vt:lpstr>
      <vt:lpstr>🔐</vt:lpstr>
      <vt:lpstr>🗂️</vt:lpstr>
      <vt:lpstr>🗄️</vt:lpstr>
      <vt:lpstr>🚀</vt:lpstr>
      <vt:lpstr>🚫</vt:lpstr>
      <vt:lpstr>🛡️</vt:lpstr>
      <vt:lpstr>🧭</vt:lpstr>
      <vt:lpstr>🧾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Technicien Info 2 (LYCEE ST MARC)</dc:creator>
  <cp:lastModifiedBy>Technicien Info 2 (LYCEE ST MARC)</cp:lastModifiedBy>
  <cp:revision>1</cp:revision>
  <dcterms:created xsi:type="dcterms:W3CDTF">2026-09-25T13:10:31Z</dcterms:created>
  <dcterms:modified xsi:type="dcterms:W3CDTF">2026-09-25T13:10:31Z</dcterms:modified>
</cp:coreProperties>
</file>